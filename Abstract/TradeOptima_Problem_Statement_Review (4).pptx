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183880" y="5486400"/>
            <a:ext cx="384048" cy="914400"/>
          </a:xfrm>
          <a:prstGeom prst="rect">
            <a:avLst/>
          </a:prstGeom>
          <a:solidFill>
            <a:srgbClr val="8FA3D6">
              <a:alpha val="45000"/>
            </a:srgbClr>
          </a:solidFill>
          <a:ln/>
        </p:spPr>
      </p:sp>
      <p:sp>
        <p:nvSpPr>
          <p:cNvPr id="3" name="Shape 1"/>
          <p:cNvSpPr/>
          <p:nvPr/>
        </p:nvSpPr>
        <p:spPr>
          <a:xfrm>
            <a:off x="8695944" y="4937760"/>
            <a:ext cx="384048" cy="1463040"/>
          </a:xfrm>
          <a:prstGeom prst="rect">
            <a:avLst/>
          </a:prstGeom>
          <a:solidFill>
            <a:srgbClr val="00C853">
              <a:alpha val="45000"/>
            </a:srgbClr>
          </a:solidFill>
          <a:ln/>
        </p:spPr>
      </p:sp>
      <p:sp>
        <p:nvSpPr>
          <p:cNvPr id="4" name="Shape 2"/>
          <p:cNvSpPr/>
          <p:nvPr/>
        </p:nvSpPr>
        <p:spPr>
          <a:xfrm>
            <a:off x="9208008" y="5303520"/>
            <a:ext cx="384048" cy="1097280"/>
          </a:xfrm>
          <a:prstGeom prst="rect">
            <a:avLst/>
          </a:prstGeom>
          <a:solidFill>
            <a:srgbClr val="8FA3D6">
              <a:alpha val="45000"/>
            </a:srgbClr>
          </a:solidFill>
          <a:ln/>
        </p:spPr>
      </p:sp>
      <p:sp>
        <p:nvSpPr>
          <p:cNvPr id="5" name="Shape 3"/>
          <p:cNvSpPr/>
          <p:nvPr/>
        </p:nvSpPr>
        <p:spPr>
          <a:xfrm>
            <a:off x="9720072" y="4480560"/>
            <a:ext cx="384048" cy="1920240"/>
          </a:xfrm>
          <a:prstGeom prst="rect">
            <a:avLst/>
          </a:prstGeom>
          <a:solidFill>
            <a:srgbClr val="00C853">
              <a:alpha val="45000"/>
            </a:srgbClr>
          </a:solidFill>
          <a:ln/>
        </p:spPr>
      </p:sp>
      <p:sp>
        <p:nvSpPr>
          <p:cNvPr id="6" name="Shape 4"/>
          <p:cNvSpPr/>
          <p:nvPr/>
        </p:nvSpPr>
        <p:spPr>
          <a:xfrm>
            <a:off x="10232136" y="4846320"/>
            <a:ext cx="384048" cy="1554480"/>
          </a:xfrm>
          <a:prstGeom prst="rect">
            <a:avLst/>
          </a:prstGeom>
          <a:solidFill>
            <a:srgbClr val="8FA3D6">
              <a:alpha val="45000"/>
            </a:srgbClr>
          </a:solidFill>
          <a:ln/>
        </p:spPr>
      </p:sp>
      <p:sp>
        <p:nvSpPr>
          <p:cNvPr id="7" name="Shape 5"/>
          <p:cNvSpPr/>
          <p:nvPr/>
        </p:nvSpPr>
        <p:spPr>
          <a:xfrm>
            <a:off x="10744200" y="4023360"/>
            <a:ext cx="384048" cy="2377440"/>
          </a:xfrm>
          <a:prstGeom prst="rect">
            <a:avLst/>
          </a:prstGeom>
          <a:solidFill>
            <a:srgbClr val="00C853">
              <a:alpha val="45000"/>
            </a:srgbClr>
          </a:solidFill>
          <a:ln/>
        </p:spPr>
      </p:sp>
      <p:sp>
        <p:nvSpPr>
          <p:cNvPr id="8" name="Shape 6"/>
          <p:cNvSpPr/>
          <p:nvPr/>
        </p:nvSpPr>
        <p:spPr>
          <a:xfrm>
            <a:off x="11256264" y="4572000"/>
            <a:ext cx="384048" cy="1828800"/>
          </a:xfrm>
          <a:prstGeom prst="rect">
            <a:avLst/>
          </a:prstGeom>
          <a:solidFill>
            <a:srgbClr val="8FA3D6">
              <a:alpha val="45000"/>
            </a:srgbClr>
          </a:solidFill>
          <a:ln/>
        </p:spPr>
      </p:sp>
      <p:sp>
        <p:nvSpPr>
          <p:cNvPr id="9" name="Shape 7"/>
          <p:cNvSpPr/>
          <p:nvPr/>
        </p:nvSpPr>
        <p:spPr>
          <a:xfrm>
            <a:off x="11768328" y="3566160"/>
            <a:ext cx="384048" cy="2834640"/>
          </a:xfrm>
          <a:prstGeom prst="rect">
            <a:avLst/>
          </a:prstGeom>
          <a:solidFill>
            <a:srgbClr val="00C853">
              <a:alpha val="45000"/>
            </a:srgbClr>
          </a:solidFill>
          <a:ln/>
        </p:spPr>
      </p:sp>
      <p:sp>
        <p:nvSpPr>
          <p:cNvPr id="10" name="Text 8"/>
          <p:cNvSpPr/>
          <p:nvPr/>
        </p:nvSpPr>
        <p:spPr>
          <a:xfrm>
            <a:off x="640080" y="1965960"/>
            <a:ext cx="8229600" cy="320040"/>
          </a:xfrm>
          <a:prstGeom prst="rect">
            <a:avLst/>
          </a:prstGeom>
          <a:noFill/>
          <a:ln/>
        </p:spPr>
        <p:txBody>
          <a:bodyPr wrap="square" lIns="0" tIns="0" rIns="0" bIns="0" rtlCol="0" anchor="ctr"/>
          <a:lstStyle/>
          <a:p>
            <a:pPr indent="0" marL="0">
              <a:buNone/>
            </a:pPr>
            <a:r>
              <a:rPr lang="en-US" sz="1300" b="1" spc="200" kern="0" dirty="0">
                <a:solidFill>
                  <a:srgbClr val="00C853"/>
                </a:solidFill>
                <a:latin typeface="Calibri" pitchFamily="34" charset="0"/>
                <a:ea typeface="Calibri" pitchFamily="34" charset="-122"/>
                <a:cs typeface="Calibri" pitchFamily="34" charset="-120"/>
              </a:rPr>
              <a:t>DSA-3 · ADVANCED ALGORITHMS — PROBLEM STATEMENT REVIEW</a:t>
            </a:r>
            <a:endParaRPr lang="en-US" sz="1300" dirty="0"/>
          </a:p>
        </p:txBody>
      </p:sp>
      <p:sp>
        <p:nvSpPr>
          <p:cNvPr id="11" name="Text 9"/>
          <p:cNvSpPr/>
          <p:nvPr/>
        </p:nvSpPr>
        <p:spPr>
          <a:xfrm>
            <a:off x="594360" y="2331720"/>
            <a:ext cx="8686800" cy="11430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TradeOptima</a:t>
            </a:r>
            <a:endParaRPr lang="en-US" sz="4800" dirty="0"/>
          </a:p>
        </p:txBody>
      </p:sp>
      <p:sp>
        <p:nvSpPr>
          <p:cNvPr id="12" name="Text 10"/>
          <p:cNvSpPr/>
          <p:nvPr/>
        </p:nvSpPr>
        <p:spPr>
          <a:xfrm>
            <a:off x="640080" y="3429000"/>
            <a:ext cx="7498080" cy="822960"/>
          </a:xfrm>
          <a:prstGeom prst="rect">
            <a:avLst/>
          </a:prstGeom>
          <a:noFill/>
          <a:ln/>
        </p:spPr>
        <p:txBody>
          <a:bodyPr wrap="square" lIns="0" tIns="0" rIns="0" bIns="0" rtlCol="0" anchor="ctr"/>
          <a:lstStyle/>
          <a:p>
            <a:pPr indent="0" marL="0">
              <a:lnSpc>
                <a:spcPct val="120000"/>
              </a:lnSpc>
              <a:buNone/>
            </a:pPr>
            <a:r>
              <a:rPr lang="en-US" sz="1800" dirty="0">
                <a:solidFill>
                  <a:srgbClr val="CADCFC"/>
                </a:solidFill>
                <a:latin typeface="Calibri" pitchFamily="34" charset="0"/>
                <a:ea typeface="Calibri" pitchFamily="34" charset="-122"/>
                <a:cs typeface="Calibri" pitchFamily="34" charset="-120"/>
              </a:rPr>
              <a:t>A Constrained Dynamic-Programming Engine for Multi-Trade Stock Profit Optimization</a:t>
            </a:r>
            <a:endParaRPr lang="en-US" sz="1800" dirty="0"/>
          </a:p>
        </p:txBody>
      </p:sp>
      <p:sp>
        <p:nvSpPr>
          <p:cNvPr id="13" name="Text 11"/>
          <p:cNvSpPr/>
          <p:nvPr/>
        </p:nvSpPr>
        <p:spPr>
          <a:xfrm>
            <a:off x="640080" y="6080760"/>
            <a:ext cx="9601200" cy="320040"/>
          </a:xfrm>
          <a:prstGeom prst="rect">
            <a:avLst/>
          </a:prstGeom>
          <a:noFill/>
          <a:ln/>
        </p:spPr>
        <p:txBody>
          <a:bodyPr wrap="square" lIns="0" tIns="0" rIns="0" bIns="0" rtlCol="0" anchor="ctr"/>
          <a:lstStyle/>
          <a:p>
            <a:pPr indent="0" marL="0">
              <a:buNone/>
            </a:pPr>
            <a:r>
              <a:rPr lang="en-US" sz="1200" dirty="0">
                <a:solidFill>
                  <a:srgbClr val="8FA3D6"/>
                </a:solidFill>
                <a:latin typeface="Calibri" pitchFamily="34" charset="0"/>
                <a:ea typeface="Calibri" pitchFamily="34" charset="-122"/>
                <a:cs typeface="Calibri" pitchFamily="34" charset="-120"/>
              </a:rPr>
              <a:t>Team: [Team Name]     |     Members: [Name 1, Name 2, Name 3]     |     Course: [Course Code / Section]</a:t>
            </a:r>
            <a:endParaRPr lang="en-US" sz="1200" dirty="0"/>
          </a:p>
        </p:txBody>
      </p:sp>
      <p:sp>
        <p:nvSpPr>
          <p:cNvPr id="14" name="Text 12"/>
          <p:cNvSpPr/>
          <p:nvPr/>
        </p:nvSpPr>
        <p:spPr>
          <a:xfrm>
            <a:off x="640080" y="6382512"/>
            <a:ext cx="9601200" cy="274320"/>
          </a:xfrm>
          <a:prstGeom prst="rect">
            <a:avLst/>
          </a:prstGeom>
          <a:noFill/>
          <a:ln/>
        </p:spPr>
        <p:txBody>
          <a:bodyPr wrap="square" lIns="0" tIns="0" rIns="0" bIns="0" rtlCol="0" anchor="ctr"/>
          <a:lstStyle/>
          <a:p>
            <a:pPr indent="0" marL="0">
              <a:buNone/>
            </a:pPr>
            <a:r>
              <a:rPr lang="en-US" sz="1200" dirty="0">
                <a:solidFill>
                  <a:srgbClr val="8FA3D6"/>
                </a:solidFill>
                <a:latin typeface="Calibri" pitchFamily="34" charset="0"/>
                <a:ea typeface="Calibri" pitchFamily="34" charset="-122"/>
                <a:cs typeface="Calibri" pitchFamily="34" charset="-120"/>
              </a:rPr>
              <a:t>Review Date: 20 August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320040"/>
            <a:ext cx="4572000" cy="274320"/>
          </a:xfrm>
          <a:prstGeom prst="rect">
            <a:avLst/>
          </a:prstGeom>
          <a:noFill/>
          <a:ln/>
        </p:spPr>
        <p:txBody>
          <a:bodyPr wrap="square" lIns="0" tIns="0" rIns="0" bIns="0" rtlCol="0" anchor="ctr"/>
          <a:lstStyle/>
          <a:p>
            <a:pPr algn="l" indent="0" marL="0">
              <a:buNone/>
            </a:pPr>
            <a:r>
              <a:rPr lang="en-US" sz="1200" b="1" spc="200" kern="0" dirty="0">
                <a:solidFill>
                  <a:srgbClr val="00C853"/>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66928"/>
            <a:ext cx="7315200" cy="68580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Abstract</a:t>
            </a:r>
            <a:endParaRPr lang="en-US" sz="3200" dirty="0"/>
          </a:p>
        </p:txBody>
      </p:sp>
      <p:sp>
        <p:nvSpPr>
          <p:cNvPr id="4" name="Text 2"/>
          <p:cNvSpPr/>
          <p:nvPr/>
        </p:nvSpPr>
        <p:spPr>
          <a:xfrm>
            <a:off x="548640" y="1508760"/>
            <a:ext cx="6858000" cy="4754880"/>
          </a:xfrm>
          <a:prstGeom prst="rect">
            <a:avLst/>
          </a:prstGeom>
          <a:noFill/>
          <a:ln/>
        </p:spPr>
        <p:txBody>
          <a:bodyPr wrap="square" lIns="0" tIns="0" rIns="0" bIns="0" rtlCol="0" anchor="t"/>
          <a:lstStyle/>
          <a:p>
            <a:pPr algn="l" indent="0" marL="0">
              <a:lnSpc>
                <a:spcPct val="125000"/>
              </a:lnSpc>
              <a:spcAft>
                <a:spcPts val="1000"/>
              </a:spcAft>
              <a:buNone/>
            </a:pPr>
            <a:r>
              <a:rPr lang="en-US" sz="1450" dirty="0">
                <a:solidFill>
                  <a:srgbClr val="242B45"/>
                </a:solidFill>
                <a:latin typeface="Calibri" pitchFamily="34" charset="0"/>
                <a:ea typeface="Calibri" pitchFamily="34" charset="-122"/>
                <a:cs typeface="Calibri" pitchFamily="34" charset="-120"/>
              </a:rPr>
              <a:t>Real-world trading strategies must balance profit against practical frictions: a limited number of trades, brokerage fees, and mandatory cooldown periods after every sale. Classical single-transaction profit algorithms ignore these frictions entirely, leaving no systematic way to plan constrained, multi-trade strategies.</a:t>
            </a:r>
            <a:endParaRPr lang="en-US" sz="1450" dirty="0"/>
          </a:p>
          <a:p>
            <a:pPr algn="l" indent="0" marL="0">
              <a:lnSpc>
                <a:spcPct val="125000"/>
              </a:lnSpc>
              <a:spcAft>
                <a:spcPts val="1000"/>
              </a:spcAft>
              <a:buNone/>
            </a:pPr>
            <a:endParaRPr lang="en-US" sz="1450" dirty="0"/>
          </a:p>
          <a:p>
            <a:pPr algn="l" indent="0" marL="0">
              <a:lnSpc>
                <a:spcPct val="125000"/>
              </a:lnSpc>
              <a:spcAft>
                <a:spcPts val="1000"/>
              </a:spcAft>
              <a:buNone/>
            </a:pPr>
            <a:r>
              <a:rPr lang="en-US" sz="1450" dirty="0">
                <a:solidFill>
                  <a:srgbClr val="242B45"/>
                </a:solidFill>
                <a:latin typeface="Calibri" pitchFamily="34" charset="0"/>
                <a:ea typeface="Calibri" pitchFamily="34" charset="-122"/>
                <a:cs typeface="Calibri" pitchFamily="34" charset="-120"/>
              </a:rPr>
              <a:t>TradeOptima models the trading decision process as a finite-state machine — Idle, Holding, and Cooldown — and applies dynamic programming over the price history, trade budget, fee, and cooldown parameters to compute the maximum achievable profit. Beyond the optimal value, the engine backtracks through its DP table to reconstruct the exact chronological sequence of Buy, Sell, and Hold decisions, producing an auditable transaction ledger.</a:t>
            </a:r>
            <a:endParaRPr lang="en-US" sz="1450" dirty="0"/>
          </a:p>
          <a:p>
            <a:pPr algn="l" indent="0" marL="0">
              <a:lnSpc>
                <a:spcPct val="125000"/>
              </a:lnSpc>
              <a:spcAft>
                <a:spcPts val="1000"/>
              </a:spcAft>
              <a:buNone/>
            </a:pPr>
            <a:endParaRPr lang="en-US" sz="1450" dirty="0"/>
          </a:p>
          <a:p>
            <a:pPr algn="l" indent="0" marL="0">
              <a:lnSpc>
                <a:spcPct val="125000"/>
              </a:lnSpc>
              <a:spcAft>
                <a:spcPts val="1000"/>
              </a:spcAft>
              <a:buNone/>
            </a:pPr>
            <a:r>
              <a:rPr lang="en-US" sz="1450" dirty="0">
                <a:solidFill>
                  <a:srgbClr val="242B45"/>
                </a:solidFill>
                <a:latin typeface="Calibri" pitchFamily="34" charset="0"/>
                <a:ea typeface="Calibri" pitchFamily="34" charset="-122"/>
                <a:cs typeface="Calibri" pitchFamily="34" charset="-120"/>
              </a:rPr>
              <a:t>The system targets historical series of up to 100,000 price points and 1,000 permitted trades, completing within two seconds — demonstrating that advanced DP techniques scale to realistic financial-data workloads.</a:t>
            </a:r>
            <a:endParaRPr lang="en-US" sz="1450" dirty="0"/>
          </a:p>
        </p:txBody>
      </p:sp>
      <p:sp>
        <p:nvSpPr>
          <p:cNvPr id="5" name="Shape 3"/>
          <p:cNvSpPr/>
          <p:nvPr/>
        </p:nvSpPr>
        <p:spPr>
          <a:xfrm>
            <a:off x="7818120" y="1508760"/>
            <a:ext cx="3794760" cy="4754880"/>
          </a:xfrm>
          <a:prstGeom prst="roundRect">
            <a:avLst>
              <a:gd name="adj" fmla="val 2892"/>
            </a:avLst>
          </a:prstGeom>
          <a:solidFill>
            <a:srgbClr val="E9EFFB"/>
          </a:solidFill>
          <a:ln/>
        </p:spPr>
      </p:sp>
      <p:sp>
        <p:nvSpPr>
          <p:cNvPr id="6" name="Shape 4"/>
          <p:cNvSpPr/>
          <p:nvPr/>
        </p:nvSpPr>
        <p:spPr>
          <a:xfrm>
            <a:off x="9166860" y="2011680"/>
            <a:ext cx="1097280" cy="1097280"/>
          </a:xfrm>
          <a:prstGeom prst="ellipse">
            <a:avLst/>
          </a:prstGeom>
          <a:solidFill>
            <a:srgbClr val="FFFFFF"/>
          </a:solidFill>
          <a:ln/>
        </p:spPr>
      </p:sp>
      <p:pic>
        <p:nvPicPr>
          <p:cNvPr id="7" name="Image 0" descr="/home/claude/project/icons/chart-line.png">    </p:cNvPr>
          <p:cNvPicPr>
            <a:picLocks noChangeAspect="1"/>
          </p:cNvPicPr>
          <p:nvPr/>
        </p:nvPicPr>
        <p:blipFill>
          <a:blip r:embed="rId1"/>
          <a:stretch>
            <a:fillRect/>
          </a:stretch>
        </p:blipFill>
        <p:spPr>
          <a:xfrm>
            <a:off x="9309506" y="2154326"/>
            <a:ext cx="811987" cy="811987"/>
          </a:xfrm>
          <a:prstGeom prst="rect">
            <a:avLst/>
          </a:prstGeom>
        </p:spPr>
      </p:pic>
      <p:sp>
        <p:nvSpPr>
          <p:cNvPr id="8" name="Text 5"/>
          <p:cNvSpPr/>
          <p:nvPr/>
        </p:nvSpPr>
        <p:spPr>
          <a:xfrm>
            <a:off x="8092440" y="3291840"/>
            <a:ext cx="3246120" cy="777240"/>
          </a:xfrm>
          <a:prstGeom prst="rect">
            <a:avLst/>
          </a:prstGeom>
          <a:noFill/>
          <a:ln/>
        </p:spPr>
        <p:txBody>
          <a:bodyPr wrap="square" lIns="0" tIns="0" rIns="0" bIns="0" rtlCol="0" anchor="ctr"/>
          <a:lstStyle/>
          <a:p>
            <a:pPr algn="ctr" indent="0" marL="0">
              <a:lnSpc>
                <a:spcPct val="105000"/>
              </a:lnSpc>
              <a:buNone/>
            </a:pPr>
            <a:r>
              <a:rPr lang="en-US" sz="1800" b="1" dirty="0">
                <a:solidFill>
                  <a:srgbClr val="1E2761"/>
                </a:solidFill>
                <a:latin typeface="Cambria" pitchFamily="34" charset="0"/>
                <a:ea typeface="Cambria" pitchFamily="34" charset="-122"/>
                <a:cs typeface="Cambria" pitchFamily="34" charset="-120"/>
              </a:rPr>
              <a:t>Algorithmic Trading,</a:t>
            </a:r>
            <a:endParaRPr lang="en-US" sz="1800" dirty="0"/>
          </a:p>
          <a:p>
            <a:pPr algn="ctr" indent="0" marL="0">
              <a:lnSpc>
                <a:spcPct val="105000"/>
              </a:lnSpc>
              <a:buNone/>
            </a:pPr>
            <a:r>
              <a:rPr lang="en-US" sz="1800" b="1" dirty="0">
                <a:solidFill>
                  <a:srgbClr val="1E2761"/>
                </a:solidFill>
                <a:latin typeface="Cambria" pitchFamily="34" charset="0"/>
                <a:ea typeface="Cambria" pitchFamily="34" charset="-122"/>
                <a:cs typeface="Cambria" pitchFamily="34" charset="-120"/>
              </a:rPr>
              <a:t>Optimized</a:t>
            </a:r>
            <a:endParaRPr lang="en-US" sz="1800" dirty="0"/>
          </a:p>
        </p:txBody>
      </p:sp>
      <p:sp>
        <p:nvSpPr>
          <p:cNvPr id="9" name="Text 6"/>
          <p:cNvSpPr/>
          <p:nvPr/>
        </p:nvSpPr>
        <p:spPr>
          <a:xfrm>
            <a:off x="8092440" y="4297680"/>
            <a:ext cx="32461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 ≤ 100,000</a:t>
            </a:r>
            <a:endParaRPr lang="en-US" sz="1600" dirty="0"/>
          </a:p>
        </p:txBody>
      </p:sp>
      <p:sp>
        <p:nvSpPr>
          <p:cNvPr id="10" name="Text 7"/>
          <p:cNvSpPr/>
          <p:nvPr/>
        </p:nvSpPr>
        <p:spPr>
          <a:xfrm>
            <a:off x="8092440" y="4626864"/>
            <a:ext cx="3246120" cy="292608"/>
          </a:xfrm>
          <a:prstGeom prst="rect">
            <a:avLst/>
          </a:prstGeom>
          <a:noFill/>
          <a:ln/>
        </p:spPr>
        <p:txBody>
          <a:bodyPr wrap="square" lIns="0" tIns="0" rIns="0" bIns="0" rtlCol="0" anchor="ctr"/>
          <a:lstStyle/>
          <a:p>
            <a:pPr indent="0" marL="0">
              <a:buNone/>
            </a:pPr>
            <a:r>
              <a:rPr lang="en-US" sz="1150" dirty="0">
                <a:solidFill>
                  <a:srgbClr val="5B657F"/>
                </a:solidFill>
                <a:latin typeface="Calibri" pitchFamily="34" charset="0"/>
                <a:ea typeface="Calibri" pitchFamily="34" charset="-122"/>
                <a:cs typeface="Calibri" pitchFamily="34" charset="-120"/>
              </a:rPr>
              <a:t>historical price points</a:t>
            </a:r>
            <a:endParaRPr lang="en-US" sz="1150" dirty="0"/>
          </a:p>
        </p:txBody>
      </p:sp>
      <p:sp>
        <p:nvSpPr>
          <p:cNvPr id="11" name="Text 8"/>
          <p:cNvSpPr/>
          <p:nvPr/>
        </p:nvSpPr>
        <p:spPr>
          <a:xfrm>
            <a:off x="8092440" y="4956048"/>
            <a:ext cx="32461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k ≤ 1,000</a:t>
            </a:r>
            <a:endParaRPr lang="en-US" sz="1600" dirty="0"/>
          </a:p>
        </p:txBody>
      </p:sp>
      <p:sp>
        <p:nvSpPr>
          <p:cNvPr id="12" name="Text 9"/>
          <p:cNvSpPr/>
          <p:nvPr/>
        </p:nvSpPr>
        <p:spPr>
          <a:xfrm>
            <a:off x="8092440" y="5285232"/>
            <a:ext cx="3246120" cy="292608"/>
          </a:xfrm>
          <a:prstGeom prst="rect">
            <a:avLst/>
          </a:prstGeom>
          <a:noFill/>
          <a:ln/>
        </p:spPr>
        <p:txBody>
          <a:bodyPr wrap="square" lIns="0" tIns="0" rIns="0" bIns="0" rtlCol="0" anchor="ctr"/>
          <a:lstStyle/>
          <a:p>
            <a:pPr indent="0" marL="0">
              <a:buNone/>
            </a:pPr>
            <a:r>
              <a:rPr lang="en-US" sz="1150" dirty="0">
                <a:solidFill>
                  <a:srgbClr val="5B657F"/>
                </a:solidFill>
                <a:latin typeface="Calibri" pitchFamily="34" charset="0"/>
                <a:ea typeface="Calibri" pitchFamily="34" charset="-122"/>
                <a:cs typeface="Calibri" pitchFamily="34" charset="-120"/>
              </a:rPr>
              <a:t>permitted trades</a:t>
            </a:r>
            <a:endParaRPr lang="en-US" sz="1150" dirty="0"/>
          </a:p>
        </p:txBody>
      </p:sp>
      <p:sp>
        <p:nvSpPr>
          <p:cNvPr id="13" name="Text 10"/>
          <p:cNvSpPr/>
          <p:nvPr/>
        </p:nvSpPr>
        <p:spPr>
          <a:xfrm>
            <a:off x="8092440" y="5614416"/>
            <a:ext cx="32461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&lt; 2 s</a:t>
            </a:r>
            <a:endParaRPr lang="en-US" sz="1600" dirty="0"/>
          </a:p>
        </p:txBody>
      </p:sp>
      <p:sp>
        <p:nvSpPr>
          <p:cNvPr id="14" name="Text 11"/>
          <p:cNvSpPr/>
          <p:nvPr/>
        </p:nvSpPr>
        <p:spPr>
          <a:xfrm>
            <a:off x="8092440" y="5943600"/>
            <a:ext cx="3246120" cy="292608"/>
          </a:xfrm>
          <a:prstGeom prst="rect">
            <a:avLst/>
          </a:prstGeom>
          <a:noFill/>
          <a:ln/>
        </p:spPr>
        <p:txBody>
          <a:bodyPr wrap="square" lIns="0" tIns="0" rIns="0" bIns="0" rtlCol="0" anchor="ctr"/>
          <a:lstStyle/>
          <a:p>
            <a:pPr indent="0" marL="0">
              <a:buNone/>
            </a:pPr>
            <a:r>
              <a:rPr lang="en-US" sz="1150" dirty="0">
                <a:solidFill>
                  <a:srgbClr val="5B657F"/>
                </a:solidFill>
                <a:latin typeface="Calibri" pitchFamily="34" charset="0"/>
                <a:ea typeface="Calibri" pitchFamily="34" charset="-122"/>
                <a:cs typeface="Calibri" pitchFamily="34" charset="-120"/>
              </a:rPr>
              <a:t>target runtime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320040"/>
            <a:ext cx="4572000" cy="274320"/>
          </a:xfrm>
          <a:prstGeom prst="rect">
            <a:avLst/>
          </a:prstGeom>
          <a:noFill/>
          <a:ln/>
        </p:spPr>
        <p:txBody>
          <a:bodyPr wrap="square" lIns="0" tIns="0" rIns="0" bIns="0" rtlCol="0" anchor="ctr"/>
          <a:lstStyle/>
          <a:p>
            <a:pPr algn="l" indent="0" marL="0">
              <a:buNone/>
            </a:pPr>
            <a:r>
              <a:rPr lang="en-US" sz="1200" b="1" spc="200" kern="0" dirty="0">
                <a:solidFill>
                  <a:srgbClr val="00C853"/>
                </a:solidFill>
                <a:latin typeface="Calibri" pitchFamily="34" charset="0"/>
                <a:ea typeface="Calibri" pitchFamily="34" charset="-122"/>
                <a:cs typeface="Calibri" pitchFamily="34" charset="-120"/>
              </a:rPr>
              <a:t>FORMAL DEFINITION</a:t>
            </a:r>
            <a:endParaRPr lang="en-US" sz="1200" dirty="0"/>
          </a:p>
        </p:txBody>
      </p:sp>
      <p:sp>
        <p:nvSpPr>
          <p:cNvPr id="3" name="Text 1"/>
          <p:cNvSpPr/>
          <p:nvPr/>
        </p:nvSpPr>
        <p:spPr>
          <a:xfrm>
            <a:off x="548640" y="566928"/>
            <a:ext cx="7315200" cy="68580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Problem Statement</a:t>
            </a:r>
            <a:endParaRPr lang="en-US" sz="3200" dirty="0"/>
          </a:p>
        </p:txBody>
      </p:sp>
      <p:sp>
        <p:nvSpPr>
          <p:cNvPr id="4" name="Text 2"/>
          <p:cNvSpPr/>
          <p:nvPr/>
        </p:nvSpPr>
        <p:spPr>
          <a:xfrm>
            <a:off x="548640" y="1417320"/>
            <a:ext cx="11109960" cy="1371600"/>
          </a:xfrm>
          <a:prstGeom prst="rect">
            <a:avLst/>
          </a:prstGeom>
          <a:noFill/>
          <a:ln/>
        </p:spPr>
        <p:txBody>
          <a:bodyPr wrap="square" lIns="0" tIns="0" rIns="0" bIns="0" rtlCol="0" anchor="ctr"/>
          <a:lstStyle/>
          <a:p>
            <a:pPr indent="0" marL="0">
              <a:lnSpc>
                <a:spcPct val="125000"/>
              </a:lnSpc>
              <a:buNone/>
            </a:pPr>
            <a:r>
              <a:rPr lang="en-US" sz="1400" dirty="0">
                <a:solidFill>
                  <a:srgbClr val="242B45"/>
                </a:solidFill>
                <a:latin typeface="Calibri" pitchFamily="34" charset="0"/>
                <a:ea typeface="Calibri" pitchFamily="34" charset="-122"/>
                <a:cs typeface="Calibri" pitchFamily="34" charset="-120"/>
              </a:rPr>
              <a:t>Given a chronological series of historical stock prices P = [p₀, p₁, …, pₙ₋₁], design and implement a dynamic-programming algorithm that computes the maximum net profit obtainable, subject to: (i) at most k buy–sell transaction pairs, (ii) a fixed fee charged per completed trade, and (iii) a mandatory cooldown of c days after every sale before a new buy is permitted. The solution must also reconstruct the exact chronological sequence of Buy / Sell / Hold decisions that achieves this optimum.</a:t>
            </a:r>
            <a:endParaRPr lang="en-US" sz="1400" dirty="0"/>
          </a:p>
        </p:txBody>
      </p:sp>
      <p:sp>
        <p:nvSpPr>
          <p:cNvPr id="5" name="Shape 3"/>
          <p:cNvSpPr/>
          <p:nvPr/>
        </p:nvSpPr>
        <p:spPr>
          <a:xfrm>
            <a:off x="548640" y="3063240"/>
            <a:ext cx="3520440" cy="3063240"/>
          </a:xfrm>
          <a:prstGeom prst="roundRect">
            <a:avLst>
              <a:gd name="adj" fmla="val 2985"/>
            </a:avLst>
          </a:prstGeom>
          <a:solidFill>
            <a:srgbClr val="FFFFFF"/>
          </a:solidFill>
          <a:ln w="19050">
            <a:solidFill>
              <a:srgbClr val="E9EFFB"/>
            </a:solidFill>
            <a:prstDash val="solid"/>
          </a:ln>
          <a:effectLst>
            <a:outerShdw sx="100000" sy="100000" kx="0" ky="0" algn="bl" rotWithShape="0" blurRad="101600" dist="38100" dir="5400000">
              <a:srgbClr val="1E2761">
                <a:alpha val="12000"/>
              </a:srgbClr>
            </a:outerShdw>
          </a:effectLst>
        </p:spPr>
      </p:sp>
      <p:sp>
        <p:nvSpPr>
          <p:cNvPr id="6" name="Shape 4"/>
          <p:cNvSpPr/>
          <p:nvPr/>
        </p:nvSpPr>
        <p:spPr>
          <a:xfrm>
            <a:off x="868680" y="3383280"/>
            <a:ext cx="685800" cy="685800"/>
          </a:xfrm>
          <a:prstGeom prst="ellipse">
            <a:avLst/>
          </a:prstGeom>
          <a:solidFill>
            <a:srgbClr val="E9EFFB"/>
          </a:solidFill>
          <a:ln/>
        </p:spPr>
      </p:sp>
      <p:pic>
        <p:nvPicPr>
          <p:cNvPr id="7" name="Image 0" descr="/home/claude/project/icons/file-import.png">    </p:cNvPr>
          <p:cNvPicPr>
            <a:picLocks noChangeAspect="1"/>
          </p:cNvPicPr>
          <p:nvPr/>
        </p:nvPicPr>
        <p:blipFill>
          <a:blip r:embed="rId1"/>
          <a:stretch>
            <a:fillRect/>
          </a:stretch>
        </p:blipFill>
        <p:spPr>
          <a:xfrm>
            <a:off x="957834" y="3472434"/>
            <a:ext cx="507492" cy="507492"/>
          </a:xfrm>
          <a:prstGeom prst="rect">
            <a:avLst/>
          </a:prstGeom>
        </p:spPr>
      </p:pic>
      <p:sp>
        <p:nvSpPr>
          <p:cNvPr id="8" name="Text 5"/>
          <p:cNvSpPr/>
          <p:nvPr/>
        </p:nvSpPr>
        <p:spPr>
          <a:xfrm>
            <a:off x="868680" y="4206240"/>
            <a:ext cx="288036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Input</a:t>
            </a:r>
            <a:endParaRPr lang="en-US" sz="1800" dirty="0"/>
          </a:p>
        </p:txBody>
      </p:sp>
      <p:sp>
        <p:nvSpPr>
          <p:cNvPr id="9" name="Text 6"/>
          <p:cNvSpPr/>
          <p:nvPr/>
        </p:nvSpPr>
        <p:spPr>
          <a:xfrm>
            <a:off x="868680" y="4636008"/>
            <a:ext cx="2926080" cy="1325880"/>
          </a:xfrm>
          <a:prstGeom prst="rect">
            <a:avLst/>
          </a:prstGeom>
          <a:noFill/>
          <a:ln/>
        </p:spPr>
        <p:txBody>
          <a:bodyPr wrap="square" lIns="0" tIns="0" rIns="0" bIns="0" rtlCol="0" anchor="t"/>
          <a:lstStyle/>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Historical price array</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Max trades (k)</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Transaction fee</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Cooldown period</a:t>
            </a:r>
            <a:endParaRPr lang="en-US" sz="1250" dirty="0"/>
          </a:p>
        </p:txBody>
      </p:sp>
      <p:sp>
        <p:nvSpPr>
          <p:cNvPr id="10" name="Shape 7"/>
          <p:cNvSpPr/>
          <p:nvPr/>
        </p:nvSpPr>
        <p:spPr>
          <a:xfrm>
            <a:off x="4361688" y="3063240"/>
            <a:ext cx="3520440" cy="3063240"/>
          </a:xfrm>
          <a:prstGeom prst="roundRect">
            <a:avLst>
              <a:gd name="adj" fmla="val 2985"/>
            </a:avLst>
          </a:prstGeom>
          <a:solidFill>
            <a:srgbClr val="FFFFFF"/>
          </a:solidFill>
          <a:ln w="19050">
            <a:solidFill>
              <a:srgbClr val="E9EFFB"/>
            </a:solidFill>
            <a:prstDash val="solid"/>
          </a:ln>
          <a:effectLst>
            <a:outerShdw sx="100000" sy="100000" kx="0" ky="0" algn="bl" rotWithShape="0" blurRad="101600" dist="38100" dir="5400000">
              <a:srgbClr val="1E2761">
                <a:alpha val="12000"/>
              </a:srgbClr>
            </a:outerShdw>
          </a:effectLst>
        </p:spPr>
      </p:sp>
      <p:sp>
        <p:nvSpPr>
          <p:cNvPr id="11" name="Shape 8"/>
          <p:cNvSpPr/>
          <p:nvPr/>
        </p:nvSpPr>
        <p:spPr>
          <a:xfrm>
            <a:off x="4681728" y="3383280"/>
            <a:ext cx="685800" cy="685800"/>
          </a:xfrm>
          <a:prstGeom prst="ellipse">
            <a:avLst/>
          </a:prstGeom>
          <a:solidFill>
            <a:srgbClr val="E9EFFB"/>
          </a:solidFill>
          <a:ln/>
        </p:spPr>
      </p:sp>
      <p:pic>
        <p:nvPicPr>
          <p:cNvPr id="12" name="Image 1" descr="/home/claude/project/icons/file-export.png">    </p:cNvPr>
          <p:cNvPicPr>
            <a:picLocks noChangeAspect="1"/>
          </p:cNvPicPr>
          <p:nvPr/>
        </p:nvPicPr>
        <p:blipFill>
          <a:blip r:embed="rId2"/>
          <a:stretch>
            <a:fillRect/>
          </a:stretch>
        </p:blipFill>
        <p:spPr>
          <a:xfrm>
            <a:off x="4770882" y="3472434"/>
            <a:ext cx="507492" cy="507492"/>
          </a:xfrm>
          <a:prstGeom prst="rect">
            <a:avLst/>
          </a:prstGeom>
        </p:spPr>
      </p:pic>
      <p:sp>
        <p:nvSpPr>
          <p:cNvPr id="13" name="Text 9"/>
          <p:cNvSpPr/>
          <p:nvPr/>
        </p:nvSpPr>
        <p:spPr>
          <a:xfrm>
            <a:off x="4681728" y="4206240"/>
            <a:ext cx="288036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Output</a:t>
            </a:r>
            <a:endParaRPr lang="en-US" sz="1800" dirty="0"/>
          </a:p>
        </p:txBody>
      </p:sp>
      <p:sp>
        <p:nvSpPr>
          <p:cNvPr id="14" name="Text 10"/>
          <p:cNvSpPr/>
          <p:nvPr/>
        </p:nvSpPr>
        <p:spPr>
          <a:xfrm>
            <a:off x="4681728" y="4636008"/>
            <a:ext cx="2926080" cy="1325880"/>
          </a:xfrm>
          <a:prstGeom prst="rect">
            <a:avLst/>
          </a:prstGeom>
          <a:noFill/>
          <a:ln/>
        </p:spPr>
        <p:txBody>
          <a:bodyPr wrap="square" lIns="0" tIns="0" rIns="0" bIns="0" rtlCol="0" anchor="t"/>
          <a:lstStyle/>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Maximum net profit</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Chronological Buy / Sell /</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Hold ledger</a:t>
            </a:r>
            <a:endParaRPr lang="en-US" sz="1250" dirty="0"/>
          </a:p>
        </p:txBody>
      </p:sp>
      <p:sp>
        <p:nvSpPr>
          <p:cNvPr id="15" name="Shape 11"/>
          <p:cNvSpPr/>
          <p:nvPr/>
        </p:nvSpPr>
        <p:spPr>
          <a:xfrm>
            <a:off x="8174736" y="3063240"/>
            <a:ext cx="3520440" cy="3063240"/>
          </a:xfrm>
          <a:prstGeom prst="roundRect">
            <a:avLst>
              <a:gd name="adj" fmla="val 2985"/>
            </a:avLst>
          </a:prstGeom>
          <a:solidFill>
            <a:srgbClr val="FFFFFF"/>
          </a:solidFill>
          <a:ln w="19050">
            <a:solidFill>
              <a:srgbClr val="E9EFFB"/>
            </a:solidFill>
            <a:prstDash val="solid"/>
          </a:ln>
          <a:effectLst>
            <a:outerShdw sx="100000" sy="100000" kx="0" ky="0" algn="bl" rotWithShape="0" blurRad="101600" dist="38100" dir="5400000">
              <a:srgbClr val="1E2761">
                <a:alpha val="12000"/>
              </a:srgbClr>
            </a:outerShdw>
          </a:effectLst>
        </p:spPr>
      </p:sp>
      <p:sp>
        <p:nvSpPr>
          <p:cNvPr id="16" name="Shape 12"/>
          <p:cNvSpPr/>
          <p:nvPr/>
        </p:nvSpPr>
        <p:spPr>
          <a:xfrm>
            <a:off x="8494776" y="3383280"/>
            <a:ext cx="685800" cy="685800"/>
          </a:xfrm>
          <a:prstGeom prst="ellipse">
            <a:avLst/>
          </a:prstGeom>
          <a:solidFill>
            <a:srgbClr val="E9EFFB"/>
          </a:solidFill>
          <a:ln/>
        </p:spPr>
      </p:sp>
      <p:pic>
        <p:nvPicPr>
          <p:cNvPr id="17" name="Image 2" descr="/home/claude/project/icons/balance-scale.png">    </p:cNvPr>
          <p:cNvPicPr>
            <a:picLocks noChangeAspect="1"/>
          </p:cNvPicPr>
          <p:nvPr/>
        </p:nvPicPr>
        <p:blipFill>
          <a:blip r:embed="rId3"/>
          <a:stretch>
            <a:fillRect/>
          </a:stretch>
        </p:blipFill>
        <p:spPr>
          <a:xfrm>
            <a:off x="8583930" y="3472434"/>
            <a:ext cx="507492" cy="507492"/>
          </a:xfrm>
          <a:prstGeom prst="rect">
            <a:avLst/>
          </a:prstGeom>
        </p:spPr>
      </p:pic>
      <p:sp>
        <p:nvSpPr>
          <p:cNvPr id="18" name="Text 13"/>
          <p:cNvSpPr/>
          <p:nvPr/>
        </p:nvSpPr>
        <p:spPr>
          <a:xfrm>
            <a:off x="8494776" y="4206240"/>
            <a:ext cx="288036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Constraints</a:t>
            </a:r>
            <a:endParaRPr lang="en-US" sz="1800" dirty="0"/>
          </a:p>
        </p:txBody>
      </p:sp>
      <p:sp>
        <p:nvSpPr>
          <p:cNvPr id="19" name="Text 14"/>
          <p:cNvSpPr/>
          <p:nvPr/>
        </p:nvSpPr>
        <p:spPr>
          <a:xfrm>
            <a:off x="8494776" y="4636008"/>
            <a:ext cx="2926080" cy="1325880"/>
          </a:xfrm>
          <a:prstGeom prst="rect">
            <a:avLst/>
          </a:prstGeom>
          <a:noFill/>
          <a:ln/>
        </p:spPr>
        <p:txBody>
          <a:bodyPr wrap="square" lIns="0" tIns="0" rIns="0" bIns="0" rtlCol="0" anchor="t"/>
          <a:lstStyle/>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N ≤ 10⁵ prices</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k ≤ 1000</a:t>
            </a:r>
            <a:endParaRPr lang="en-US" sz="1250" dirty="0"/>
          </a:p>
          <a:p>
            <a:pPr marL="177800" indent="-177800">
              <a:lnSpc>
                <a:spcPct val="110000"/>
              </a:lnSpc>
              <a:spcAft>
                <a:spcPts val="800"/>
              </a:spcAft>
              <a:buSzPct val="100000"/>
              <a:buChar char="➔"/>
            </a:pPr>
            <a:r>
              <a:rPr lang="en-US" sz="1250" dirty="0">
                <a:solidFill>
                  <a:srgbClr val="242B45"/>
                </a:solidFill>
                <a:latin typeface="Calibri" pitchFamily="34" charset="0"/>
                <a:ea typeface="Calibri" pitchFamily="34" charset="-122"/>
                <a:cs typeface="Calibri" pitchFamily="34" charset="-120"/>
              </a:rPr>
              <a:t>Execution time &lt; 2 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320040"/>
            <a:ext cx="4572000" cy="274320"/>
          </a:xfrm>
          <a:prstGeom prst="rect">
            <a:avLst/>
          </a:prstGeom>
          <a:noFill/>
          <a:ln/>
        </p:spPr>
        <p:txBody>
          <a:bodyPr wrap="square" lIns="0" tIns="0" rIns="0" bIns="0" rtlCol="0" anchor="ctr"/>
          <a:lstStyle/>
          <a:p>
            <a:pPr algn="l" indent="0" marL="0">
              <a:buNone/>
            </a:pPr>
            <a:r>
              <a:rPr lang="en-US" sz="1200" b="1" spc="200" kern="0" dirty="0">
                <a:solidFill>
                  <a:srgbClr val="00C853"/>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566928"/>
            <a:ext cx="7315200" cy="68580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Proposed Functionalities</a:t>
            </a:r>
            <a:endParaRPr lang="en-US" sz="3200" dirty="0"/>
          </a:p>
        </p:txBody>
      </p:sp>
      <p:sp>
        <p:nvSpPr>
          <p:cNvPr id="4" name="Shape 2"/>
          <p:cNvSpPr/>
          <p:nvPr/>
        </p:nvSpPr>
        <p:spPr>
          <a:xfrm>
            <a:off x="548640" y="1463040"/>
            <a:ext cx="5440680" cy="1481328"/>
          </a:xfrm>
          <a:prstGeom prst="roundRect">
            <a:avLst>
              <a:gd name="adj" fmla="val 5556"/>
            </a:avLst>
          </a:prstGeom>
          <a:solidFill>
            <a:srgbClr val="FFFFFF"/>
          </a:solidFill>
          <a:ln w="19050">
            <a:solidFill>
              <a:srgbClr val="E9EFFB"/>
            </a:solidFill>
            <a:prstDash val="solid"/>
          </a:ln>
        </p:spPr>
      </p:sp>
      <p:sp>
        <p:nvSpPr>
          <p:cNvPr id="5" name="Shape 3"/>
          <p:cNvSpPr/>
          <p:nvPr/>
        </p:nvSpPr>
        <p:spPr>
          <a:xfrm>
            <a:off x="804672" y="1746504"/>
            <a:ext cx="914400" cy="914400"/>
          </a:xfrm>
          <a:prstGeom prst="ellipse">
            <a:avLst/>
          </a:prstGeom>
          <a:solidFill>
            <a:srgbClr val="E9EFFB"/>
          </a:solidFill>
          <a:ln/>
        </p:spPr>
      </p:sp>
      <p:pic>
        <p:nvPicPr>
          <p:cNvPr id="6" name="Image 0" descr="/home/claude/project/icons/sitemap.png">    </p:cNvPr>
          <p:cNvPicPr>
            <a:picLocks noChangeAspect="1"/>
          </p:cNvPicPr>
          <p:nvPr/>
        </p:nvPicPr>
        <p:blipFill>
          <a:blip r:embed="rId1"/>
          <a:stretch>
            <a:fillRect/>
          </a:stretch>
        </p:blipFill>
        <p:spPr>
          <a:xfrm>
            <a:off x="923544" y="1865376"/>
            <a:ext cx="676656" cy="676656"/>
          </a:xfrm>
          <a:prstGeom prst="rect">
            <a:avLst/>
          </a:prstGeom>
        </p:spPr>
      </p:pic>
      <p:sp>
        <p:nvSpPr>
          <p:cNvPr id="7" name="Text 4"/>
          <p:cNvSpPr/>
          <p:nvPr/>
        </p:nvSpPr>
        <p:spPr>
          <a:xfrm>
            <a:off x="1920240" y="164592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State-Machine DP Core</a:t>
            </a:r>
            <a:endParaRPr lang="en-US" sz="1500" dirty="0"/>
          </a:p>
        </p:txBody>
      </p:sp>
      <p:sp>
        <p:nvSpPr>
          <p:cNvPr id="8" name="Text 5"/>
          <p:cNvSpPr/>
          <p:nvPr/>
        </p:nvSpPr>
        <p:spPr>
          <a:xfrm>
            <a:off x="1920240" y="202996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Models Idle / Holding / Cooldown transitions and computes the optimum in O(N·k) time.</a:t>
            </a:r>
            <a:endParaRPr lang="en-US" sz="1150" dirty="0"/>
          </a:p>
        </p:txBody>
      </p:sp>
      <p:sp>
        <p:nvSpPr>
          <p:cNvPr id="9" name="Shape 6"/>
          <p:cNvSpPr/>
          <p:nvPr/>
        </p:nvSpPr>
        <p:spPr>
          <a:xfrm>
            <a:off x="6355080" y="1463040"/>
            <a:ext cx="5440680" cy="1481328"/>
          </a:xfrm>
          <a:prstGeom prst="roundRect">
            <a:avLst>
              <a:gd name="adj" fmla="val 5556"/>
            </a:avLst>
          </a:prstGeom>
          <a:solidFill>
            <a:srgbClr val="FFFFFF"/>
          </a:solidFill>
          <a:ln w="19050">
            <a:solidFill>
              <a:srgbClr val="E9EFFB"/>
            </a:solidFill>
            <a:prstDash val="solid"/>
          </a:ln>
        </p:spPr>
      </p:sp>
      <p:sp>
        <p:nvSpPr>
          <p:cNvPr id="10" name="Shape 7"/>
          <p:cNvSpPr/>
          <p:nvPr/>
        </p:nvSpPr>
        <p:spPr>
          <a:xfrm>
            <a:off x="6611112" y="1746504"/>
            <a:ext cx="914400" cy="914400"/>
          </a:xfrm>
          <a:prstGeom prst="ellipse">
            <a:avLst/>
          </a:prstGeom>
          <a:solidFill>
            <a:srgbClr val="E9EFFB"/>
          </a:solidFill>
          <a:ln/>
        </p:spPr>
      </p:sp>
      <p:pic>
        <p:nvPicPr>
          <p:cNvPr id="11" name="Image 1" descr="/home/claude/project/icons/sliders.png">    </p:cNvPr>
          <p:cNvPicPr>
            <a:picLocks noChangeAspect="1"/>
          </p:cNvPicPr>
          <p:nvPr/>
        </p:nvPicPr>
        <p:blipFill>
          <a:blip r:embed="rId2"/>
          <a:stretch>
            <a:fillRect/>
          </a:stretch>
        </p:blipFill>
        <p:spPr>
          <a:xfrm>
            <a:off x="6729984" y="1865376"/>
            <a:ext cx="676656" cy="676656"/>
          </a:xfrm>
          <a:prstGeom prst="rect">
            <a:avLst/>
          </a:prstGeom>
        </p:spPr>
      </p:pic>
      <p:sp>
        <p:nvSpPr>
          <p:cNvPr id="12" name="Text 8"/>
          <p:cNvSpPr/>
          <p:nvPr/>
        </p:nvSpPr>
        <p:spPr>
          <a:xfrm>
            <a:off x="7726680" y="164592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Configurable Constraints</a:t>
            </a:r>
            <a:endParaRPr lang="en-US" sz="1500" dirty="0"/>
          </a:p>
        </p:txBody>
      </p:sp>
      <p:sp>
        <p:nvSpPr>
          <p:cNvPr id="13" name="Text 9"/>
          <p:cNvSpPr/>
          <p:nvPr/>
        </p:nvSpPr>
        <p:spPr>
          <a:xfrm>
            <a:off x="7726680" y="202996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k, transaction fee, and cooldown are runtime parameters, not hard-coded values.</a:t>
            </a:r>
            <a:endParaRPr lang="en-US" sz="1150" dirty="0"/>
          </a:p>
        </p:txBody>
      </p:sp>
      <p:sp>
        <p:nvSpPr>
          <p:cNvPr id="14" name="Shape 10"/>
          <p:cNvSpPr/>
          <p:nvPr/>
        </p:nvSpPr>
        <p:spPr>
          <a:xfrm>
            <a:off x="548640" y="3108960"/>
            <a:ext cx="5440680" cy="1481328"/>
          </a:xfrm>
          <a:prstGeom prst="roundRect">
            <a:avLst>
              <a:gd name="adj" fmla="val 5556"/>
            </a:avLst>
          </a:prstGeom>
          <a:solidFill>
            <a:srgbClr val="FFFFFF"/>
          </a:solidFill>
          <a:ln w="19050">
            <a:solidFill>
              <a:srgbClr val="E9EFFB"/>
            </a:solidFill>
            <a:prstDash val="solid"/>
          </a:ln>
        </p:spPr>
      </p:sp>
      <p:sp>
        <p:nvSpPr>
          <p:cNvPr id="15" name="Shape 11"/>
          <p:cNvSpPr/>
          <p:nvPr/>
        </p:nvSpPr>
        <p:spPr>
          <a:xfrm>
            <a:off x="804672" y="3392424"/>
            <a:ext cx="914400" cy="914400"/>
          </a:xfrm>
          <a:prstGeom prst="ellipse">
            <a:avLst/>
          </a:prstGeom>
          <a:solidFill>
            <a:srgbClr val="E9EFFB"/>
          </a:solidFill>
          <a:ln/>
        </p:spPr>
      </p:sp>
      <p:pic>
        <p:nvPicPr>
          <p:cNvPr id="16" name="Image 2" descr="/home/claude/project/icons/undo.png">    </p:cNvPr>
          <p:cNvPicPr>
            <a:picLocks noChangeAspect="1"/>
          </p:cNvPicPr>
          <p:nvPr/>
        </p:nvPicPr>
        <p:blipFill>
          <a:blip r:embed="rId3"/>
          <a:stretch>
            <a:fillRect/>
          </a:stretch>
        </p:blipFill>
        <p:spPr>
          <a:xfrm>
            <a:off x="923544" y="3511296"/>
            <a:ext cx="676656" cy="676656"/>
          </a:xfrm>
          <a:prstGeom prst="rect">
            <a:avLst/>
          </a:prstGeom>
        </p:spPr>
      </p:pic>
      <p:sp>
        <p:nvSpPr>
          <p:cNvPr id="17" name="Text 12"/>
          <p:cNvSpPr/>
          <p:nvPr/>
        </p:nvSpPr>
        <p:spPr>
          <a:xfrm>
            <a:off x="1920240" y="329184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Backtracking Ledger</a:t>
            </a:r>
            <a:endParaRPr lang="en-US" sz="1500" dirty="0"/>
          </a:p>
        </p:txBody>
      </p:sp>
      <p:sp>
        <p:nvSpPr>
          <p:cNvPr id="18" name="Text 13"/>
          <p:cNvSpPr/>
          <p:nvPr/>
        </p:nvSpPr>
        <p:spPr>
          <a:xfrm>
            <a:off x="1920240" y="367588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A parent-pointer walk through the DP table reconstructs the full Buy / Sell / Hold trade log.</a:t>
            </a:r>
            <a:endParaRPr lang="en-US" sz="1150" dirty="0"/>
          </a:p>
        </p:txBody>
      </p:sp>
      <p:sp>
        <p:nvSpPr>
          <p:cNvPr id="19" name="Shape 14"/>
          <p:cNvSpPr/>
          <p:nvPr/>
        </p:nvSpPr>
        <p:spPr>
          <a:xfrm>
            <a:off x="6355080" y="3108960"/>
            <a:ext cx="5440680" cy="1481328"/>
          </a:xfrm>
          <a:prstGeom prst="roundRect">
            <a:avLst>
              <a:gd name="adj" fmla="val 5556"/>
            </a:avLst>
          </a:prstGeom>
          <a:solidFill>
            <a:srgbClr val="FFFFFF"/>
          </a:solidFill>
          <a:ln w="19050">
            <a:solidFill>
              <a:srgbClr val="E9EFFB"/>
            </a:solidFill>
            <a:prstDash val="solid"/>
          </a:ln>
        </p:spPr>
      </p:sp>
      <p:sp>
        <p:nvSpPr>
          <p:cNvPr id="20" name="Shape 15"/>
          <p:cNvSpPr/>
          <p:nvPr/>
        </p:nvSpPr>
        <p:spPr>
          <a:xfrm>
            <a:off x="6611112" y="3392424"/>
            <a:ext cx="914400" cy="914400"/>
          </a:xfrm>
          <a:prstGeom prst="ellipse">
            <a:avLst/>
          </a:prstGeom>
          <a:solidFill>
            <a:srgbClr val="E9EFFB"/>
          </a:solidFill>
          <a:ln/>
        </p:spPr>
      </p:sp>
      <p:pic>
        <p:nvPicPr>
          <p:cNvPr id="21" name="Image 3" descr="/home/claude/project/icons/compress.png">    </p:cNvPr>
          <p:cNvPicPr>
            <a:picLocks noChangeAspect="1"/>
          </p:cNvPicPr>
          <p:nvPr/>
        </p:nvPicPr>
        <p:blipFill>
          <a:blip r:embed="rId4"/>
          <a:stretch>
            <a:fillRect/>
          </a:stretch>
        </p:blipFill>
        <p:spPr>
          <a:xfrm>
            <a:off x="6729984" y="3511296"/>
            <a:ext cx="676656" cy="676656"/>
          </a:xfrm>
          <a:prstGeom prst="rect">
            <a:avLst/>
          </a:prstGeom>
        </p:spPr>
      </p:pic>
      <p:sp>
        <p:nvSpPr>
          <p:cNvPr id="22" name="Text 16"/>
          <p:cNvSpPr/>
          <p:nvPr/>
        </p:nvSpPr>
        <p:spPr>
          <a:xfrm>
            <a:off x="7726680" y="329184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Rolling-Array Optimization</a:t>
            </a:r>
            <a:endParaRPr lang="en-US" sz="1500" dirty="0"/>
          </a:p>
        </p:txBody>
      </p:sp>
      <p:sp>
        <p:nvSpPr>
          <p:cNvPr id="23" name="Text 17"/>
          <p:cNvSpPr/>
          <p:nvPr/>
        </p:nvSpPr>
        <p:spPr>
          <a:xfrm>
            <a:off x="7726680" y="367588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Collapses the O(N·k) DP table to O(k) memory using a rolling-array technique.</a:t>
            </a:r>
            <a:endParaRPr lang="en-US" sz="1150" dirty="0"/>
          </a:p>
        </p:txBody>
      </p:sp>
      <p:sp>
        <p:nvSpPr>
          <p:cNvPr id="24" name="Shape 18"/>
          <p:cNvSpPr/>
          <p:nvPr/>
        </p:nvSpPr>
        <p:spPr>
          <a:xfrm>
            <a:off x="548640" y="4754880"/>
            <a:ext cx="5440680" cy="1481328"/>
          </a:xfrm>
          <a:prstGeom prst="roundRect">
            <a:avLst>
              <a:gd name="adj" fmla="val 5556"/>
            </a:avLst>
          </a:prstGeom>
          <a:solidFill>
            <a:srgbClr val="FFFFFF"/>
          </a:solidFill>
          <a:ln w="19050">
            <a:solidFill>
              <a:srgbClr val="E9EFFB"/>
            </a:solidFill>
            <a:prstDash val="solid"/>
          </a:ln>
        </p:spPr>
      </p:sp>
      <p:sp>
        <p:nvSpPr>
          <p:cNvPr id="25" name="Shape 19"/>
          <p:cNvSpPr/>
          <p:nvPr/>
        </p:nvSpPr>
        <p:spPr>
          <a:xfrm>
            <a:off x="804672" y="5038344"/>
            <a:ext cx="914400" cy="914400"/>
          </a:xfrm>
          <a:prstGeom prst="ellipse">
            <a:avLst/>
          </a:prstGeom>
          <a:solidFill>
            <a:srgbClr val="E9EFFB"/>
          </a:solidFill>
          <a:ln/>
        </p:spPr>
      </p:sp>
      <p:pic>
        <p:nvPicPr>
          <p:cNvPr id="26" name="Image 4" descr="/home/claude/project/icons/triangle-exclaim.png">    </p:cNvPr>
          <p:cNvPicPr>
            <a:picLocks noChangeAspect="1"/>
          </p:cNvPicPr>
          <p:nvPr/>
        </p:nvPicPr>
        <p:blipFill>
          <a:blip r:embed="rId5"/>
          <a:stretch>
            <a:fillRect/>
          </a:stretch>
        </p:blipFill>
        <p:spPr>
          <a:xfrm>
            <a:off x="923544" y="5157216"/>
            <a:ext cx="676656" cy="676656"/>
          </a:xfrm>
          <a:prstGeom prst="rect">
            <a:avLst/>
          </a:prstGeom>
        </p:spPr>
      </p:pic>
      <p:sp>
        <p:nvSpPr>
          <p:cNvPr id="27" name="Text 20"/>
          <p:cNvSpPr/>
          <p:nvPr/>
        </p:nvSpPr>
        <p:spPr>
          <a:xfrm>
            <a:off x="1920240" y="493776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Edge-Case Handling</a:t>
            </a:r>
            <a:endParaRPr lang="en-US" sz="1500" dirty="0"/>
          </a:p>
        </p:txBody>
      </p:sp>
      <p:sp>
        <p:nvSpPr>
          <p:cNvPr id="28" name="Text 21"/>
          <p:cNvSpPr/>
          <p:nvPr/>
        </p:nvSpPr>
        <p:spPr>
          <a:xfrm>
            <a:off x="1920240" y="532180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Explicitly handles zero-profit runs, k = 0, and cooldown ≥ holding period.</a:t>
            </a:r>
            <a:endParaRPr lang="en-US" sz="1150" dirty="0"/>
          </a:p>
        </p:txBody>
      </p:sp>
      <p:sp>
        <p:nvSpPr>
          <p:cNvPr id="29" name="Shape 22"/>
          <p:cNvSpPr/>
          <p:nvPr/>
        </p:nvSpPr>
        <p:spPr>
          <a:xfrm>
            <a:off x="6355080" y="4754880"/>
            <a:ext cx="5440680" cy="1481328"/>
          </a:xfrm>
          <a:prstGeom prst="roundRect">
            <a:avLst>
              <a:gd name="adj" fmla="val 5556"/>
            </a:avLst>
          </a:prstGeom>
          <a:solidFill>
            <a:srgbClr val="FFFFFF"/>
          </a:solidFill>
          <a:ln w="19050">
            <a:solidFill>
              <a:srgbClr val="E9EFFB"/>
            </a:solidFill>
            <a:prstDash val="solid"/>
          </a:ln>
        </p:spPr>
      </p:sp>
      <p:sp>
        <p:nvSpPr>
          <p:cNvPr id="30" name="Shape 23"/>
          <p:cNvSpPr/>
          <p:nvPr/>
        </p:nvSpPr>
        <p:spPr>
          <a:xfrm>
            <a:off x="6611112" y="5038344"/>
            <a:ext cx="914400" cy="914400"/>
          </a:xfrm>
          <a:prstGeom prst="ellipse">
            <a:avLst/>
          </a:prstGeom>
          <a:solidFill>
            <a:srgbClr val="E9EFFB"/>
          </a:solidFill>
          <a:ln/>
        </p:spPr>
      </p:sp>
      <p:pic>
        <p:nvPicPr>
          <p:cNvPr id="31" name="Image 5" descr="/home/claude/project/icons/check-double.png">    </p:cNvPr>
          <p:cNvPicPr>
            <a:picLocks noChangeAspect="1"/>
          </p:cNvPicPr>
          <p:nvPr/>
        </p:nvPicPr>
        <p:blipFill>
          <a:blip r:embed="rId6"/>
          <a:stretch>
            <a:fillRect/>
          </a:stretch>
        </p:blipFill>
        <p:spPr>
          <a:xfrm>
            <a:off x="6729984" y="5157216"/>
            <a:ext cx="676656" cy="676656"/>
          </a:xfrm>
          <a:prstGeom prst="rect">
            <a:avLst/>
          </a:prstGeom>
        </p:spPr>
      </p:pic>
      <p:sp>
        <p:nvSpPr>
          <p:cNvPr id="32" name="Text 24"/>
          <p:cNvSpPr/>
          <p:nvPr/>
        </p:nvSpPr>
        <p:spPr>
          <a:xfrm>
            <a:off x="7726680" y="4937760"/>
            <a:ext cx="384048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Validation Harness</a:t>
            </a:r>
            <a:endParaRPr lang="en-US" sz="1500" dirty="0"/>
          </a:p>
        </p:txBody>
      </p:sp>
      <p:sp>
        <p:nvSpPr>
          <p:cNvPr id="33" name="Text 25"/>
          <p:cNvSpPr/>
          <p:nvPr/>
        </p:nvSpPr>
        <p:spPr>
          <a:xfrm>
            <a:off x="7726680" y="5321808"/>
            <a:ext cx="3840480" cy="777240"/>
          </a:xfrm>
          <a:prstGeom prst="rect">
            <a:avLst/>
          </a:prstGeom>
          <a:noFill/>
          <a:ln/>
        </p:spPr>
        <p:txBody>
          <a:bodyPr wrap="square" lIns="0" tIns="0" rIns="0" bIns="0" rtlCol="0" anchor="t"/>
          <a:lstStyle/>
          <a:p>
            <a:pPr indent="0" marL="0">
              <a:lnSpc>
                <a:spcPct val="115000"/>
              </a:lnSpc>
              <a:buNone/>
            </a:pPr>
            <a:r>
              <a:rPr lang="en-US" sz="1150" dirty="0">
                <a:solidFill>
                  <a:srgbClr val="5B657F"/>
                </a:solidFill>
                <a:latin typeface="Calibri" pitchFamily="34" charset="0"/>
                <a:ea typeface="Calibri" pitchFamily="34" charset="-122"/>
                <a:cs typeface="Calibri" pitchFamily="34" charset="-120"/>
              </a:rPr>
              <a:t>Brute-force cross-checks on small inputs certify correctness before scaling to N = 10⁵.</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320040"/>
            <a:ext cx="4572000" cy="274320"/>
          </a:xfrm>
          <a:prstGeom prst="rect">
            <a:avLst/>
          </a:prstGeom>
          <a:noFill/>
          <a:ln/>
        </p:spPr>
        <p:txBody>
          <a:bodyPr wrap="square" lIns="0" tIns="0" rIns="0" bIns="0" rtlCol="0" anchor="ctr"/>
          <a:lstStyle/>
          <a:p>
            <a:pPr algn="l" indent="0" marL="0">
              <a:buNone/>
            </a:pPr>
            <a:r>
              <a:rPr lang="en-US" sz="1200" b="1" spc="200" kern="0" dirty="0">
                <a:solidFill>
                  <a:srgbClr val="00C853"/>
                </a:solidFill>
                <a:latin typeface="Calibri" pitchFamily="34" charset="0"/>
                <a:ea typeface="Calibri" pitchFamily="34" charset="-122"/>
                <a:cs typeface="Calibri" pitchFamily="34" charset="-120"/>
              </a:rPr>
              <a:t>IMPLEMENTATION STACK</a:t>
            </a:r>
            <a:endParaRPr lang="en-US" sz="1200" dirty="0"/>
          </a:p>
        </p:txBody>
      </p:sp>
      <p:sp>
        <p:nvSpPr>
          <p:cNvPr id="3" name="Text 1"/>
          <p:cNvSpPr/>
          <p:nvPr/>
        </p:nvSpPr>
        <p:spPr>
          <a:xfrm>
            <a:off x="548640" y="566928"/>
            <a:ext cx="7315200" cy="685800"/>
          </a:xfrm>
          <a:prstGeom prst="rect">
            <a:avLst/>
          </a:prstGeom>
          <a:noFill/>
          <a:ln/>
        </p:spPr>
        <p:txBody>
          <a:bodyPr wrap="square" lIns="0" tIns="0" rIns="0" bIns="0"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Tools &amp; Technologies</a:t>
            </a:r>
            <a:endParaRPr lang="en-US" sz="3200" dirty="0"/>
          </a:p>
        </p:txBody>
      </p:sp>
      <p:sp>
        <p:nvSpPr>
          <p:cNvPr id="4" name="Shape 2"/>
          <p:cNvSpPr/>
          <p:nvPr/>
        </p:nvSpPr>
        <p:spPr>
          <a:xfrm>
            <a:off x="640080" y="1600200"/>
            <a:ext cx="3429000" cy="2331720"/>
          </a:xfrm>
          <a:prstGeom prst="roundRect">
            <a:avLst>
              <a:gd name="adj" fmla="val 3922"/>
            </a:avLst>
          </a:prstGeom>
          <a:solidFill>
            <a:srgbClr val="FFFFFF"/>
          </a:solidFill>
          <a:ln w="19050">
            <a:solidFill>
              <a:srgbClr val="E9EFFB"/>
            </a:solidFill>
            <a:prstDash val="solid"/>
          </a:ln>
        </p:spPr>
      </p:sp>
      <p:sp>
        <p:nvSpPr>
          <p:cNvPr id="5" name="Shape 3"/>
          <p:cNvSpPr/>
          <p:nvPr/>
        </p:nvSpPr>
        <p:spPr>
          <a:xfrm>
            <a:off x="1897380" y="1856232"/>
            <a:ext cx="914400" cy="914400"/>
          </a:xfrm>
          <a:prstGeom prst="ellipse">
            <a:avLst/>
          </a:prstGeom>
          <a:solidFill>
            <a:srgbClr val="E9EFFB"/>
          </a:solidFill>
          <a:ln/>
        </p:spPr>
      </p:sp>
      <p:pic>
        <p:nvPicPr>
          <p:cNvPr id="6" name="Image 0" descr="/home/claude/project/icons/java.png">    </p:cNvPr>
          <p:cNvPicPr>
            <a:picLocks noChangeAspect="1"/>
          </p:cNvPicPr>
          <p:nvPr/>
        </p:nvPicPr>
        <p:blipFill>
          <a:blip r:embed="rId1"/>
          <a:stretch>
            <a:fillRect/>
          </a:stretch>
        </p:blipFill>
        <p:spPr>
          <a:xfrm>
            <a:off x="2016252" y="1975104"/>
            <a:ext cx="676656" cy="676656"/>
          </a:xfrm>
          <a:prstGeom prst="rect">
            <a:avLst/>
          </a:prstGeom>
        </p:spPr>
      </p:pic>
      <p:sp>
        <p:nvSpPr>
          <p:cNvPr id="7" name="Text 4"/>
          <p:cNvSpPr/>
          <p:nvPr/>
        </p:nvSpPr>
        <p:spPr>
          <a:xfrm>
            <a:off x="822960" y="288036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Java</a:t>
            </a:r>
            <a:endParaRPr lang="en-US" sz="1600" dirty="0"/>
          </a:p>
        </p:txBody>
      </p:sp>
      <p:sp>
        <p:nvSpPr>
          <p:cNvPr id="8" name="Text 5"/>
          <p:cNvSpPr/>
          <p:nvPr/>
        </p:nvSpPr>
        <p:spPr>
          <a:xfrm>
            <a:off x="868680" y="324612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Hand-built DP structures — no java.util, per course engine discipline</a:t>
            </a:r>
            <a:endParaRPr lang="en-US" sz="1050" dirty="0"/>
          </a:p>
        </p:txBody>
      </p:sp>
      <p:sp>
        <p:nvSpPr>
          <p:cNvPr id="9" name="Shape 6"/>
          <p:cNvSpPr/>
          <p:nvPr/>
        </p:nvSpPr>
        <p:spPr>
          <a:xfrm>
            <a:off x="4389120" y="1600200"/>
            <a:ext cx="3429000" cy="2331720"/>
          </a:xfrm>
          <a:prstGeom prst="roundRect">
            <a:avLst>
              <a:gd name="adj" fmla="val 3922"/>
            </a:avLst>
          </a:prstGeom>
          <a:solidFill>
            <a:srgbClr val="FFFFFF"/>
          </a:solidFill>
          <a:ln w="19050">
            <a:solidFill>
              <a:srgbClr val="E9EFFB"/>
            </a:solidFill>
            <a:prstDash val="solid"/>
          </a:ln>
        </p:spPr>
      </p:sp>
      <p:sp>
        <p:nvSpPr>
          <p:cNvPr id="10" name="Shape 7"/>
          <p:cNvSpPr/>
          <p:nvPr/>
        </p:nvSpPr>
        <p:spPr>
          <a:xfrm>
            <a:off x="5646420" y="1856232"/>
            <a:ext cx="914400" cy="914400"/>
          </a:xfrm>
          <a:prstGeom prst="ellipse">
            <a:avLst/>
          </a:prstGeom>
          <a:solidFill>
            <a:srgbClr val="E9EFFB"/>
          </a:solidFill>
          <a:ln/>
        </p:spPr>
      </p:sp>
      <p:pic>
        <p:nvPicPr>
          <p:cNvPr id="11" name="Image 1" descr="/home/claude/project/icons/vial.png">    </p:cNvPr>
          <p:cNvPicPr>
            <a:picLocks noChangeAspect="1"/>
          </p:cNvPicPr>
          <p:nvPr/>
        </p:nvPicPr>
        <p:blipFill>
          <a:blip r:embed="rId2"/>
          <a:stretch>
            <a:fillRect/>
          </a:stretch>
        </p:blipFill>
        <p:spPr>
          <a:xfrm>
            <a:off x="5765292" y="1975104"/>
            <a:ext cx="676656" cy="676656"/>
          </a:xfrm>
          <a:prstGeom prst="rect">
            <a:avLst/>
          </a:prstGeom>
        </p:spPr>
      </p:pic>
      <p:sp>
        <p:nvSpPr>
          <p:cNvPr id="12" name="Text 8"/>
          <p:cNvSpPr/>
          <p:nvPr/>
        </p:nvSpPr>
        <p:spPr>
          <a:xfrm>
            <a:off x="4572000" y="288036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JUnit 5</a:t>
            </a:r>
            <a:endParaRPr lang="en-US" sz="1600" dirty="0"/>
          </a:p>
        </p:txBody>
      </p:sp>
      <p:sp>
        <p:nvSpPr>
          <p:cNvPr id="13" name="Text 9"/>
          <p:cNvSpPr/>
          <p:nvPr/>
        </p:nvSpPr>
        <p:spPr>
          <a:xfrm>
            <a:off x="4617720" y="324612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Unit tests covering DP transitions and edge cases</a:t>
            </a:r>
            <a:endParaRPr lang="en-US" sz="1050" dirty="0"/>
          </a:p>
        </p:txBody>
      </p:sp>
      <p:sp>
        <p:nvSpPr>
          <p:cNvPr id="14" name="Shape 10"/>
          <p:cNvSpPr/>
          <p:nvPr/>
        </p:nvSpPr>
        <p:spPr>
          <a:xfrm>
            <a:off x="8138160" y="1600200"/>
            <a:ext cx="3429000" cy="2331720"/>
          </a:xfrm>
          <a:prstGeom prst="roundRect">
            <a:avLst>
              <a:gd name="adj" fmla="val 3922"/>
            </a:avLst>
          </a:prstGeom>
          <a:solidFill>
            <a:srgbClr val="FFFFFF"/>
          </a:solidFill>
          <a:ln w="19050">
            <a:solidFill>
              <a:srgbClr val="E9EFFB"/>
            </a:solidFill>
            <a:prstDash val="solid"/>
          </a:ln>
        </p:spPr>
      </p:sp>
      <p:sp>
        <p:nvSpPr>
          <p:cNvPr id="15" name="Shape 11"/>
          <p:cNvSpPr/>
          <p:nvPr/>
        </p:nvSpPr>
        <p:spPr>
          <a:xfrm>
            <a:off x="9395460" y="1856232"/>
            <a:ext cx="914400" cy="914400"/>
          </a:xfrm>
          <a:prstGeom prst="ellipse">
            <a:avLst/>
          </a:prstGeom>
          <a:solidFill>
            <a:srgbClr val="E9EFFB"/>
          </a:solidFill>
          <a:ln/>
        </p:spPr>
      </p:sp>
      <p:pic>
        <p:nvPicPr>
          <p:cNvPr id="16" name="Image 2" descr="/home/claude/project/icons/git-alt.png">    </p:cNvPr>
          <p:cNvPicPr>
            <a:picLocks noChangeAspect="1"/>
          </p:cNvPicPr>
          <p:nvPr/>
        </p:nvPicPr>
        <p:blipFill>
          <a:blip r:embed="rId3"/>
          <a:stretch>
            <a:fillRect/>
          </a:stretch>
        </p:blipFill>
        <p:spPr>
          <a:xfrm>
            <a:off x="9514332" y="1975104"/>
            <a:ext cx="676656" cy="676656"/>
          </a:xfrm>
          <a:prstGeom prst="rect">
            <a:avLst/>
          </a:prstGeom>
        </p:spPr>
      </p:pic>
      <p:sp>
        <p:nvSpPr>
          <p:cNvPr id="17" name="Text 12"/>
          <p:cNvSpPr/>
          <p:nvPr/>
        </p:nvSpPr>
        <p:spPr>
          <a:xfrm>
            <a:off x="8321040" y="288036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Git</a:t>
            </a:r>
            <a:endParaRPr lang="en-US" sz="1600" dirty="0"/>
          </a:p>
        </p:txBody>
      </p:sp>
      <p:sp>
        <p:nvSpPr>
          <p:cNvPr id="18" name="Text 13"/>
          <p:cNvSpPr/>
          <p:nvPr/>
        </p:nvSpPr>
        <p:spPr>
          <a:xfrm>
            <a:off x="8366760" y="324612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Version control for iterative, branch-based development</a:t>
            </a:r>
            <a:endParaRPr lang="en-US" sz="1050" dirty="0"/>
          </a:p>
        </p:txBody>
      </p:sp>
      <p:sp>
        <p:nvSpPr>
          <p:cNvPr id="19" name="Shape 14"/>
          <p:cNvSpPr/>
          <p:nvPr/>
        </p:nvSpPr>
        <p:spPr>
          <a:xfrm>
            <a:off x="640080" y="4206240"/>
            <a:ext cx="3429000" cy="2331720"/>
          </a:xfrm>
          <a:prstGeom prst="roundRect">
            <a:avLst>
              <a:gd name="adj" fmla="val 3922"/>
            </a:avLst>
          </a:prstGeom>
          <a:solidFill>
            <a:srgbClr val="FFFFFF"/>
          </a:solidFill>
          <a:ln w="19050">
            <a:solidFill>
              <a:srgbClr val="E9EFFB"/>
            </a:solidFill>
            <a:prstDash val="solid"/>
          </a:ln>
        </p:spPr>
      </p:sp>
      <p:sp>
        <p:nvSpPr>
          <p:cNvPr id="20" name="Shape 15"/>
          <p:cNvSpPr/>
          <p:nvPr/>
        </p:nvSpPr>
        <p:spPr>
          <a:xfrm>
            <a:off x="1897380" y="4462272"/>
            <a:ext cx="914400" cy="914400"/>
          </a:xfrm>
          <a:prstGeom prst="ellipse">
            <a:avLst/>
          </a:prstGeom>
          <a:solidFill>
            <a:srgbClr val="E9EFFB"/>
          </a:solidFill>
          <a:ln/>
        </p:spPr>
      </p:sp>
      <p:pic>
        <p:nvPicPr>
          <p:cNvPr id="21" name="Image 3" descr="/home/claude/project/icons/github.png">    </p:cNvPr>
          <p:cNvPicPr>
            <a:picLocks noChangeAspect="1"/>
          </p:cNvPicPr>
          <p:nvPr/>
        </p:nvPicPr>
        <p:blipFill>
          <a:blip r:embed="rId4"/>
          <a:stretch>
            <a:fillRect/>
          </a:stretch>
        </p:blipFill>
        <p:spPr>
          <a:xfrm>
            <a:off x="2016252" y="4581144"/>
            <a:ext cx="676656" cy="676656"/>
          </a:xfrm>
          <a:prstGeom prst="rect">
            <a:avLst/>
          </a:prstGeom>
        </p:spPr>
      </p:pic>
      <p:sp>
        <p:nvSpPr>
          <p:cNvPr id="22" name="Text 16"/>
          <p:cNvSpPr/>
          <p:nvPr/>
        </p:nvSpPr>
        <p:spPr>
          <a:xfrm>
            <a:off x="822960" y="548640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GitHub</a:t>
            </a:r>
            <a:endParaRPr lang="en-US" sz="1600" dirty="0"/>
          </a:p>
        </p:txBody>
      </p:sp>
      <p:sp>
        <p:nvSpPr>
          <p:cNvPr id="23" name="Text 17"/>
          <p:cNvSpPr/>
          <p:nvPr/>
        </p:nvSpPr>
        <p:spPr>
          <a:xfrm>
            <a:off x="868680" y="585216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Repository hosting and team collaboration</a:t>
            </a:r>
            <a:endParaRPr lang="en-US" sz="1050" dirty="0"/>
          </a:p>
        </p:txBody>
      </p:sp>
      <p:sp>
        <p:nvSpPr>
          <p:cNvPr id="24" name="Shape 18"/>
          <p:cNvSpPr/>
          <p:nvPr/>
        </p:nvSpPr>
        <p:spPr>
          <a:xfrm>
            <a:off x="4389120" y="4206240"/>
            <a:ext cx="3429000" cy="2331720"/>
          </a:xfrm>
          <a:prstGeom prst="roundRect">
            <a:avLst>
              <a:gd name="adj" fmla="val 3922"/>
            </a:avLst>
          </a:prstGeom>
          <a:solidFill>
            <a:srgbClr val="FFFFFF"/>
          </a:solidFill>
          <a:ln w="19050">
            <a:solidFill>
              <a:srgbClr val="E9EFFB"/>
            </a:solidFill>
            <a:prstDash val="solid"/>
          </a:ln>
        </p:spPr>
      </p:sp>
      <p:sp>
        <p:nvSpPr>
          <p:cNvPr id="25" name="Shape 19"/>
          <p:cNvSpPr/>
          <p:nvPr/>
        </p:nvSpPr>
        <p:spPr>
          <a:xfrm>
            <a:off x="5646420" y="4462272"/>
            <a:ext cx="914400" cy="914400"/>
          </a:xfrm>
          <a:prstGeom prst="ellipse">
            <a:avLst/>
          </a:prstGeom>
          <a:solidFill>
            <a:srgbClr val="E9EFFB"/>
          </a:solidFill>
          <a:ln/>
        </p:spPr>
      </p:sp>
      <p:pic>
        <p:nvPicPr>
          <p:cNvPr id="26" name="Image 4" descr="/home/claude/project/icons/stopwatch.png">    </p:cNvPr>
          <p:cNvPicPr>
            <a:picLocks noChangeAspect="1"/>
          </p:cNvPicPr>
          <p:nvPr/>
        </p:nvPicPr>
        <p:blipFill>
          <a:blip r:embed="rId5"/>
          <a:stretch>
            <a:fillRect/>
          </a:stretch>
        </p:blipFill>
        <p:spPr>
          <a:xfrm>
            <a:off x="5765292" y="4581144"/>
            <a:ext cx="676656" cy="676656"/>
          </a:xfrm>
          <a:prstGeom prst="rect">
            <a:avLst/>
          </a:prstGeom>
        </p:spPr>
      </p:pic>
      <p:sp>
        <p:nvSpPr>
          <p:cNvPr id="27" name="Text 20"/>
          <p:cNvSpPr/>
          <p:nvPr/>
        </p:nvSpPr>
        <p:spPr>
          <a:xfrm>
            <a:off x="4572000" y="548640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Benchmarking</a:t>
            </a:r>
            <a:endParaRPr lang="en-US" sz="1600" dirty="0"/>
          </a:p>
        </p:txBody>
      </p:sp>
      <p:sp>
        <p:nvSpPr>
          <p:cNvPr id="28" name="Text 21"/>
          <p:cNvSpPr/>
          <p:nvPr/>
        </p:nvSpPr>
        <p:spPr>
          <a:xfrm>
            <a:off x="4617720" y="585216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Custom timing harness for the &lt; 2 s runtime target</a:t>
            </a:r>
            <a:endParaRPr lang="en-US" sz="1050" dirty="0"/>
          </a:p>
        </p:txBody>
      </p:sp>
      <p:sp>
        <p:nvSpPr>
          <p:cNvPr id="29" name="Shape 22"/>
          <p:cNvSpPr/>
          <p:nvPr/>
        </p:nvSpPr>
        <p:spPr>
          <a:xfrm>
            <a:off x="8138160" y="4206240"/>
            <a:ext cx="3429000" cy="2331720"/>
          </a:xfrm>
          <a:prstGeom prst="roundRect">
            <a:avLst>
              <a:gd name="adj" fmla="val 3922"/>
            </a:avLst>
          </a:prstGeom>
          <a:solidFill>
            <a:srgbClr val="FFFFFF"/>
          </a:solidFill>
          <a:ln w="19050">
            <a:solidFill>
              <a:srgbClr val="E9EFFB"/>
            </a:solidFill>
            <a:prstDash val="solid"/>
          </a:ln>
        </p:spPr>
      </p:sp>
      <p:sp>
        <p:nvSpPr>
          <p:cNvPr id="30" name="Shape 23"/>
          <p:cNvSpPr/>
          <p:nvPr/>
        </p:nvSpPr>
        <p:spPr>
          <a:xfrm>
            <a:off x="9395460" y="4462272"/>
            <a:ext cx="914400" cy="914400"/>
          </a:xfrm>
          <a:prstGeom prst="ellipse">
            <a:avLst/>
          </a:prstGeom>
          <a:solidFill>
            <a:srgbClr val="E9EFFB"/>
          </a:solidFill>
          <a:ln/>
        </p:spPr>
      </p:sp>
      <p:pic>
        <p:nvPicPr>
          <p:cNvPr id="31" name="Image 5" descr="/home/claude/project/icons/book.png">    </p:cNvPr>
          <p:cNvPicPr>
            <a:picLocks noChangeAspect="1"/>
          </p:cNvPicPr>
          <p:nvPr/>
        </p:nvPicPr>
        <p:blipFill>
          <a:blip r:embed="rId6"/>
          <a:stretch>
            <a:fillRect/>
          </a:stretch>
        </p:blipFill>
        <p:spPr>
          <a:xfrm>
            <a:off x="9514332" y="4581144"/>
            <a:ext cx="676656" cy="676656"/>
          </a:xfrm>
          <a:prstGeom prst="rect">
            <a:avLst/>
          </a:prstGeom>
        </p:spPr>
      </p:pic>
      <p:sp>
        <p:nvSpPr>
          <p:cNvPr id="32" name="Text 24"/>
          <p:cNvSpPr/>
          <p:nvPr/>
        </p:nvSpPr>
        <p:spPr>
          <a:xfrm>
            <a:off x="8321040" y="5486400"/>
            <a:ext cx="3063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Javadoc</a:t>
            </a:r>
            <a:endParaRPr lang="en-US" sz="1600" dirty="0"/>
          </a:p>
        </p:txBody>
      </p:sp>
      <p:sp>
        <p:nvSpPr>
          <p:cNvPr id="33" name="Text 25"/>
          <p:cNvSpPr/>
          <p:nvPr/>
        </p:nvSpPr>
        <p:spPr>
          <a:xfrm>
            <a:off x="8366760" y="5852160"/>
            <a:ext cx="2971800" cy="640080"/>
          </a:xfrm>
          <a:prstGeom prst="rect">
            <a:avLst/>
          </a:prstGeom>
          <a:noFill/>
          <a:ln/>
        </p:spPr>
        <p:txBody>
          <a:bodyPr wrap="square" lIns="0" tIns="0" rIns="0" bIns="0" rtlCol="0" anchor="t"/>
          <a:lstStyle/>
          <a:p>
            <a:pPr algn="ctr" indent="0" marL="0">
              <a:lnSpc>
                <a:spcPct val="115000"/>
              </a:lnSpc>
              <a:buNone/>
            </a:pPr>
            <a:r>
              <a:rPr lang="en-US" sz="1050" dirty="0">
                <a:solidFill>
                  <a:srgbClr val="5B657F"/>
                </a:solidFill>
                <a:latin typeface="Calibri" pitchFamily="34" charset="0"/>
                <a:ea typeface="Calibri" pitchFamily="34" charset="-122"/>
                <a:cs typeface="Calibri" pitchFamily="34" charset="-120"/>
              </a:rPr>
              <a:t>API documentation and design notes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00C853"/>
                </a:solidFill>
                <a:latin typeface="Calibri" pitchFamily="34" charset="0"/>
                <a:ea typeface="Calibri" pitchFamily="34" charset="-122"/>
                <a:cs typeface="Calibri" pitchFamily="34" charset="-120"/>
              </a:rPr>
              <a:t>EXPECTED OUTCOME</a:t>
            </a:r>
            <a:endParaRPr lang="en-US" sz="1300" dirty="0"/>
          </a:p>
        </p:txBody>
      </p:sp>
      <p:sp>
        <p:nvSpPr>
          <p:cNvPr id="3" name="Text 1"/>
          <p:cNvSpPr/>
          <p:nvPr/>
        </p:nvSpPr>
        <p:spPr>
          <a:xfrm>
            <a:off x="548640" y="841248"/>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Working Engine, Not Just an Algorithm</a:t>
            </a:r>
            <a:endParaRPr lang="en-US" sz="3000" dirty="0"/>
          </a:p>
        </p:txBody>
      </p:sp>
      <p:sp>
        <p:nvSpPr>
          <p:cNvPr id="4" name="Text 2"/>
          <p:cNvSpPr/>
          <p:nvPr/>
        </p:nvSpPr>
        <p:spPr>
          <a:xfrm>
            <a:off x="548640" y="1965960"/>
            <a:ext cx="3520440" cy="1005840"/>
          </a:xfrm>
          <a:prstGeom prst="rect">
            <a:avLst/>
          </a:prstGeom>
          <a:noFill/>
          <a:ln/>
        </p:spPr>
        <p:txBody>
          <a:bodyPr wrap="square" lIns="0" tIns="0" rIns="0" bIns="0" rtlCol="0" anchor="ctr"/>
          <a:lstStyle/>
          <a:p>
            <a:pPr algn="l" indent="0" marL="0">
              <a:buNone/>
            </a:pPr>
            <a:r>
              <a:rPr lang="en-US" sz="5200" b="1" dirty="0">
                <a:solidFill>
                  <a:srgbClr val="00C853"/>
                </a:solidFill>
                <a:latin typeface="Cambria" pitchFamily="34" charset="0"/>
                <a:ea typeface="Cambria" pitchFamily="34" charset="-122"/>
                <a:cs typeface="Cambria" pitchFamily="34" charset="-120"/>
              </a:rPr>
              <a:t>&lt; 2 s</a:t>
            </a:r>
            <a:endParaRPr lang="en-US" sz="5200" dirty="0"/>
          </a:p>
        </p:txBody>
      </p:sp>
      <p:sp>
        <p:nvSpPr>
          <p:cNvPr id="5" name="Text 3"/>
          <p:cNvSpPr/>
          <p:nvPr/>
        </p:nvSpPr>
        <p:spPr>
          <a:xfrm>
            <a:off x="548640" y="2926080"/>
            <a:ext cx="3520440" cy="777240"/>
          </a:xfrm>
          <a:prstGeom prst="rect">
            <a:avLst/>
          </a:prstGeom>
          <a:noFill/>
          <a:ln/>
        </p:spPr>
        <p:txBody>
          <a:bodyPr wrap="square" lIns="0" tIns="0" rIns="0" bIns="0" rtlCol="0" anchor="ctr"/>
          <a:lstStyle/>
          <a:p>
            <a:pPr algn="l" indent="0" marL="0">
              <a:lnSpc>
                <a:spcPct val="120000"/>
              </a:lnSpc>
              <a:buNone/>
            </a:pPr>
            <a:r>
              <a:rPr lang="en-US" sz="1250" dirty="0">
                <a:solidFill>
                  <a:srgbClr val="CADCFC"/>
                </a:solidFill>
                <a:latin typeface="Calibri" pitchFamily="34" charset="0"/>
                <a:ea typeface="Calibri" pitchFamily="34" charset="-122"/>
                <a:cs typeface="Calibri" pitchFamily="34" charset="-120"/>
              </a:rPr>
              <a:t>Runtime for N = 10⁵ prices, k = 1000 trades</a:t>
            </a:r>
            <a:endParaRPr lang="en-US" sz="1250" dirty="0"/>
          </a:p>
        </p:txBody>
      </p:sp>
      <p:sp>
        <p:nvSpPr>
          <p:cNvPr id="6" name="Text 4"/>
          <p:cNvSpPr/>
          <p:nvPr/>
        </p:nvSpPr>
        <p:spPr>
          <a:xfrm>
            <a:off x="4389120" y="1965960"/>
            <a:ext cx="3520440" cy="1005840"/>
          </a:xfrm>
          <a:prstGeom prst="rect">
            <a:avLst/>
          </a:prstGeom>
          <a:noFill/>
          <a:ln/>
        </p:spPr>
        <p:txBody>
          <a:bodyPr wrap="square" lIns="0" tIns="0" rIns="0" bIns="0" rtlCol="0" anchor="ctr"/>
          <a:lstStyle/>
          <a:p>
            <a:pPr algn="l" indent="0" marL="0">
              <a:buNone/>
            </a:pPr>
            <a:r>
              <a:rPr lang="en-US" sz="5200" b="1" dirty="0">
                <a:solidFill>
                  <a:srgbClr val="00C853"/>
                </a:solidFill>
                <a:latin typeface="Cambria" pitchFamily="34" charset="0"/>
                <a:ea typeface="Cambria" pitchFamily="34" charset="-122"/>
                <a:cs typeface="Cambria" pitchFamily="34" charset="-120"/>
              </a:rPr>
              <a:t>O(N·k)</a:t>
            </a:r>
            <a:endParaRPr lang="en-US" sz="5200" dirty="0"/>
          </a:p>
        </p:txBody>
      </p:sp>
      <p:sp>
        <p:nvSpPr>
          <p:cNvPr id="7" name="Text 5"/>
          <p:cNvSpPr/>
          <p:nvPr/>
        </p:nvSpPr>
        <p:spPr>
          <a:xfrm>
            <a:off x="4389120" y="2926080"/>
            <a:ext cx="3520440" cy="777240"/>
          </a:xfrm>
          <a:prstGeom prst="rect">
            <a:avLst/>
          </a:prstGeom>
          <a:noFill/>
          <a:ln/>
        </p:spPr>
        <p:txBody>
          <a:bodyPr wrap="square" lIns="0" tIns="0" rIns="0" bIns="0" rtlCol="0" anchor="ctr"/>
          <a:lstStyle/>
          <a:p>
            <a:pPr algn="l" indent="0" marL="0">
              <a:lnSpc>
                <a:spcPct val="120000"/>
              </a:lnSpc>
              <a:buNone/>
            </a:pPr>
            <a:r>
              <a:rPr lang="en-US" sz="1250" dirty="0">
                <a:solidFill>
                  <a:srgbClr val="CADCFC"/>
                </a:solidFill>
                <a:latin typeface="Calibri" pitchFamily="34" charset="0"/>
                <a:ea typeface="Calibri" pitchFamily="34" charset="-122"/>
                <a:cs typeface="Calibri" pitchFamily="34" charset="-120"/>
              </a:rPr>
              <a:t>Time complexity — O(k) space after</a:t>
            </a:r>
            <a:endParaRPr lang="en-US" sz="1250" dirty="0"/>
          </a:p>
          <a:p>
            <a:pPr algn="l" indent="0" marL="0">
              <a:lnSpc>
                <a:spcPct val="120000"/>
              </a:lnSpc>
              <a:buNone/>
            </a:pPr>
            <a:r>
              <a:rPr lang="en-US" sz="1250" dirty="0">
                <a:solidFill>
                  <a:srgbClr val="CADCFC"/>
                </a:solidFill>
                <a:latin typeface="Calibri" pitchFamily="34" charset="0"/>
                <a:ea typeface="Calibri" pitchFamily="34" charset="-122"/>
                <a:cs typeface="Calibri" pitchFamily="34" charset="-120"/>
              </a:rPr>
              <a:t>rolling-array optimization</a:t>
            </a:r>
            <a:endParaRPr lang="en-US" sz="1250" dirty="0"/>
          </a:p>
        </p:txBody>
      </p:sp>
      <p:sp>
        <p:nvSpPr>
          <p:cNvPr id="8" name="Text 6"/>
          <p:cNvSpPr/>
          <p:nvPr/>
        </p:nvSpPr>
        <p:spPr>
          <a:xfrm>
            <a:off x="8229600" y="1965960"/>
            <a:ext cx="3520440" cy="1005840"/>
          </a:xfrm>
          <a:prstGeom prst="rect">
            <a:avLst/>
          </a:prstGeom>
          <a:noFill/>
          <a:ln/>
        </p:spPr>
        <p:txBody>
          <a:bodyPr wrap="square" lIns="0" tIns="0" rIns="0" bIns="0" rtlCol="0" anchor="ctr"/>
          <a:lstStyle/>
          <a:p>
            <a:pPr algn="l" indent="0" marL="0">
              <a:buNone/>
            </a:pPr>
            <a:r>
              <a:rPr lang="en-US" sz="5200" b="1" dirty="0">
                <a:solidFill>
                  <a:srgbClr val="00C853"/>
                </a:solidFill>
                <a:latin typeface="Cambria" pitchFamily="34" charset="0"/>
                <a:ea typeface="Cambria" pitchFamily="34" charset="-122"/>
                <a:cs typeface="Cambria" pitchFamily="34" charset="-120"/>
              </a:rPr>
              <a:t>100%</a:t>
            </a:r>
            <a:endParaRPr lang="en-US" sz="5200" dirty="0"/>
          </a:p>
        </p:txBody>
      </p:sp>
      <p:sp>
        <p:nvSpPr>
          <p:cNvPr id="9" name="Text 7"/>
          <p:cNvSpPr/>
          <p:nvPr/>
        </p:nvSpPr>
        <p:spPr>
          <a:xfrm>
            <a:off x="8229600" y="2926080"/>
            <a:ext cx="3520440" cy="777240"/>
          </a:xfrm>
          <a:prstGeom prst="rect">
            <a:avLst/>
          </a:prstGeom>
          <a:noFill/>
          <a:ln/>
        </p:spPr>
        <p:txBody>
          <a:bodyPr wrap="square" lIns="0" tIns="0" rIns="0" bIns="0" rtlCol="0" anchor="ctr"/>
          <a:lstStyle/>
          <a:p>
            <a:pPr algn="l" indent="0" marL="0">
              <a:lnSpc>
                <a:spcPct val="120000"/>
              </a:lnSpc>
              <a:buNone/>
            </a:pPr>
            <a:r>
              <a:rPr lang="en-US" sz="1250" dirty="0">
                <a:solidFill>
                  <a:srgbClr val="CADCFC"/>
                </a:solidFill>
                <a:latin typeface="Calibri" pitchFamily="34" charset="0"/>
                <a:ea typeface="Calibri" pitchFamily="34" charset="-122"/>
                <a:cs typeface="Calibri" pitchFamily="34" charset="-120"/>
              </a:rPr>
              <a:t>Ledger profit matches brute-force</a:t>
            </a:r>
            <a:endParaRPr lang="en-US" sz="1250" dirty="0"/>
          </a:p>
          <a:p>
            <a:pPr algn="l" indent="0" marL="0">
              <a:lnSpc>
                <a:spcPct val="120000"/>
              </a:lnSpc>
              <a:buNone/>
            </a:pPr>
            <a:r>
              <a:rPr lang="en-US" sz="1250" dirty="0">
                <a:solidFill>
                  <a:srgbClr val="CADCFC"/>
                </a:solidFill>
                <a:latin typeface="Calibri" pitchFamily="34" charset="0"/>
                <a:ea typeface="Calibri" pitchFamily="34" charset="-122"/>
                <a:cs typeface="Calibri" pitchFamily="34" charset="-120"/>
              </a:rPr>
              <a:t>reference on small-input validation</a:t>
            </a:r>
            <a:endParaRPr lang="en-US" sz="1250" dirty="0"/>
          </a:p>
        </p:txBody>
      </p:sp>
      <p:sp>
        <p:nvSpPr>
          <p:cNvPr id="10" name="Shape 8"/>
          <p:cNvSpPr/>
          <p:nvPr/>
        </p:nvSpPr>
        <p:spPr>
          <a:xfrm>
            <a:off x="548640" y="4160520"/>
            <a:ext cx="11064240" cy="1965960"/>
          </a:xfrm>
          <a:prstGeom prst="roundRect">
            <a:avLst>
              <a:gd name="adj" fmla="val 4651"/>
            </a:avLst>
          </a:prstGeom>
          <a:solidFill>
            <a:srgbClr val="141B45"/>
          </a:solidFill>
          <a:ln/>
        </p:spPr>
      </p:sp>
      <p:sp>
        <p:nvSpPr>
          <p:cNvPr id="11" name="Shape 9"/>
          <p:cNvSpPr/>
          <p:nvPr/>
        </p:nvSpPr>
        <p:spPr>
          <a:xfrm>
            <a:off x="868680" y="4480560"/>
            <a:ext cx="1005840" cy="1005840"/>
          </a:xfrm>
          <a:prstGeom prst="ellipse">
            <a:avLst/>
          </a:prstGeom>
          <a:solidFill>
            <a:srgbClr val="2A3570"/>
          </a:solidFill>
          <a:ln/>
        </p:spPr>
      </p:sp>
      <p:pic>
        <p:nvPicPr>
          <p:cNvPr id="12" name="Image 0" descr="/home/claude/project/icons/trophy-white.png">    </p:cNvPr>
          <p:cNvPicPr>
            <a:picLocks noChangeAspect="1"/>
          </p:cNvPicPr>
          <p:nvPr/>
        </p:nvPicPr>
        <p:blipFill>
          <a:blip r:embed="rId1"/>
          <a:stretch>
            <a:fillRect/>
          </a:stretch>
        </p:blipFill>
        <p:spPr>
          <a:xfrm>
            <a:off x="999439" y="4611319"/>
            <a:ext cx="744322" cy="744322"/>
          </a:xfrm>
          <a:prstGeom prst="rect">
            <a:avLst/>
          </a:prstGeom>
        </p:spPr>
      </p:pic>
      <p:sp>
        <p:nvSpPr>
          <p:cNvPr id="13" name="Text 10"/>
          <p:cNvSpPr/>
          <p:nvPr/>
        </p:nvSpPr>
        <p:spPr>
          <a:xfrm>
            <a:off x="2194560" y="4434840"/>
            <a:ext cx="9052560" cy="141732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TradeOptima delivers a fully functional Java engine that outputs both the optimal achievable profit and a complete, auditable transaction ledger — demonstrating mastery of state-machine dynamic programming from the Advanced DP module, and a design that extends naturally to other constrained sequential-decision problems.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2026-08-24T13:56:14Z</dcterms:created>
  <dcterms:modified xsi:type="dcterms:W3CDTF">2026-08-24T13:56:14Z</dcterms:modified>
</cp:coreProperties>
</file>